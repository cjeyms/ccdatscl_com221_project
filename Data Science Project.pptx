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Poppins Bold" charset="1" panose="00000800000000000000"/>
      <p:regular r:id="rId22"/>
    </p:embeddedFont>
    <p:embeddedFont>
      <p:font typeface="Poppins Semi-Bold" charset="1" panose="00000700000000000000"/>
      <p:regular r:id="rId23"/>
    </p:embeddedFont>
    <p:embeddedFont>
      <p:font typeface="Poppins"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472483" y="263125"/>
            <a:ext cx="2713826" cy="2622780"/>
          </a:xfrm>
          <a:prstGeom prst="rect">
            <a:avLst/>
          </a:prstGeom>
        </p:spPr>
      </p:pic>
      <p:sp>
        <p:nvSpPr>
          <p:cNvPr name="TextBox 3" id="3"/>
          <p:cNvSpPr txBox="true"/>
          <p:nvPr/>
        </p:nvSpPr>
        <p:spPr>
          <a:xfrm rot="0">
            <a:off x="85003" y="3890784"/>
            <a:ext cx="18117994" cy="2524483"/>
          </a:xfrm>
          <a:prstGeom prst="rect">
            <a:avLst/>
          </a:prstGeom>
        </p:spPr>
        <p:txBody>
          <a:bodyPr anchor="t" rtlCol="false" tIns="0" lIns="0" bIns="0" rIns="0">
            <a:spAutoFit/>
          </a:bodyPr>
          <a:lstStyle/>
          <a:p>
            <a:pPr algn="ctr">
              <a:lnSpc>
                <a:spcPts val="6435"/>
              </a:lnSpc>
            </a:pPr>
            <a:r>
              <a:rPr lang="en-US" sz="6014" b="true">
                <a:solidFill>
                  <a:srgbClr val="FFFFFF"/>
                </a:solidFill>
                <a:latin typeface="Poppins Bold"/>
                <a:ea typeface="Poppins Bold"/>
                <a:cs typeface="Poppins Bold"/>
                <a:sym typeface="Poppins Bold"/>
              </a:rPr>
              <a:t>A Self-Tracked Analysis of Late-Night Resistance Training and Daily Productivity: The Role of Intensity and Behavioral Factors</a:t>
            </a:r>
          </a:p>
        </p:txBody>
      </p:sp>
      <p:sp>
        <p:nvSpPr>
          <p:cNvPr name="TextBox 4" id="4"/>
          <p:cNvSpPr txBox="true"/>
          <p:nvPr/>
        </p:nvSpPr>
        <p:spPr>
          <a:xfrm rot="0">
            <a:off x="698635" y="8348727"/>
            <a:ext cx="7883551" cy="997256"/>
          </a:xfrm>
          <a:prstGeom prst="rect">
            <a:avLst/>
          </a:prstGeom>
        </p:spPr>
        <p:txBody>
          <a:bodyPr anchor="t" rtlCol="false" tIns="0" lIns="0" bIns="0" rIns="0">
            <a:spAutoFit/>
          </a:bodyPr>
          <a:lstStyle/>
          <a:p>
            <a:pPr algn="l">
              <a:lnSpc>
                <a:spcPts val="2541"/>
              </a:lnSpc>
              <a:spcBef>
                <a:spcPct val="0"/>
              </a:spcBef>
            </a:pPr>
            <a:r>
              <a:rPr lang="en-US" b="true" sz="2375">
                <a:solidFill>
                  <a:srgbClr val="FFFFFF"/>
                </a:solidFill>
                <a:latin typeface="Poppins Semi-Bold"/>
                <a:ea typeface="Poppins Semi-Bold"/>
                <a:cs typeface="Poppins Semi-Bold"/>
                <a:sym typeface="Poppins Semi-Bold"/>
              </a:rPr>
              <a:t>James Cedrick P. Villanueva</a:t>
            </a:r>
          </a:p>
          <a:p>
            <a:pPr algn="l">
              <a:lnSpc>
                <a:spcPts val="2541"/>
              </a:lnSpc>
              <a:spcBef>
                <a:spcPct val="0"/>
              </a:spcBef>
            </a:pPr>
            <a:r>
              <a:rPr lang="en-US" b="true" sz="2375">
                <a:solidFill>
                  <a:srgbClr val="FFFFFF"/>
                </a:solidFill>
                <a:latin typeface="Poppins Semi-Bold"/>
                <a:ea typeface="Poppins Semi-Bold"/>
                <a:cs typeface="Poppins Semi-Bold"/>
                <a:sym typeface="Poppins Semi-Bold"/>
              </a:rPr>
              <a:t>College of Computing and Information Technology</a:t>
            </a:r>
          </a:p>
          <a:p>
            <a:pPr algn="l">
              <a:lnSpc>
                <a:spcPts val="2541"/>
              </a:lnSpc>
              <a:spcBef>
                <a:spcPct val="0"/>
              </a:spcBef>
            </a:pPr>
            <a:r>
              <a:rPr lang="en-US" b="true" sz="2375">
                <a:solidFill>
                  <a:srgbClr val="FFFFFF"/>
                </a:solidFill>
                <a:latin typeface="Poppins Semi-Bold"/>
                <a:ea typeface="Poppins Semi-Bold"/>
                <a:cs typeface="Poppins Semi-Bold"/>
                <a:sym typeface="Poppins Semi-Bold"/>
              </a:rPr>
              <a:t>National University – Manila</a:t>
            </a:r>
          </a:p>
        </p:txBody>
      </p:sp>
      <p:sp>
        <p:nvSpPr>
          <p:cNvPr name="TextBox 5" id="5"/>
          <p:cNvSpPr txBox="true"/>
          <p:nvPr/>
        </p:nvSpPr>
        <p:spPr>
          <a:xfrm rot="0">
            <a:off x="12708466" y="8960896"/>
            <a:ext cx="4550834" cy="385087"/>
          </a:xfrm>
          <a:prstGeom prst="rect">
            <a:avLst/>
          </a:prstGeom>
        </p:spPr>
        <p:txBody>
          <a:bodyPr anchor="t" rtlCol="false" tIns="0" lIns="0" bIns="0" rIns="0">
            <a:spAutoFit/>
          </a:bodyPr>
          <a:lstStyle/>
          <a:p>
            <a:pPr algn="ctr">
              <a:lnSpc>
                <a:spcPts val="2729"/>
              </a:lnSpc>
              <a:spcBef>
                <a:spcPct val="0"/>
              </a:spcBef>
            </a:pPr>
            <a:r>
              <a:rPr lang="en-US" b="true" sz="2551">
                <a:solidFill>
                  <a:srgbClr val="FFFFFF"/>
                </a:solidFill>
                <a:latin typeface="Poppins Semi-Bold"/>
                <a:ea typeface="Poppins Semi-Bold"/>
                <a:cs typeface="Poppins Semi-Bold"/>
                <a:sym typeface="Poppins Semi-Bold"/>
              </a:rPr>
              <a:t>60-Day Self-Tracked Study</a:t>
            </a:r>
          </a:p>
        </p:txBody>
      </p:sp>
    </p:spTree>
  </p:cSld>
  <p:clrMapOvr>
    <a:masterClrMapping/>
  </p:clrMapOvr>
</p:sld>
</file>

<file path=ppt/slides/slide2.xml><?xml version="1.0" encoding="utf-8"?>
<p:sld xmlns:p="http://schemas.openxmlformats.org/presentationml/2006/main" xmlns:a="http://schemas.openxmlformats.org/drawingml/2006/main">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0" y="0"/>
            <a:ext cx="5668990" cy="10287000"/>
            <a:chOff x="0" y="0"/>
            <a:chExt cx="1493067" cy="2709333"/>
          </a:xfrm>
        </p:grpSpPr>
        <p:sp>
          <p:nvSpPr>
            <p:cNvPr name="Freeform 3" id="3"/>
            <p:cNvSpPr/>
            <p:nvPr/>
          </p:nvSpPr>
          <p:spPr>
            <a:xfrm flipH="false" flipV="false" rot="0">
              <a:off x="0" y="0"/>
              <a:ext cx="1493067" cy="2709333"/>
            </a:xfrm>
            <a:custGeom>
              <a:avLst/>
              <a:gdLst/>
              <a:ahLst/>
              <a:cxnLst/>
              <a:rect r="r" b="b" t="t" l="l"/>
              <a:pathLst>
                <a:path h="2709333" w="1493067">
                  <a:moveTo>
                    <a:pt x="0" y="0"/>
                  </a:moveTo>
                  <a:lnTo>
                    <a:pt x="1493067" y="0"/>
                  </a:lnTo>
                  <a:lnTo>
                    <a:pt x="1493067" y="2709333"/>
                  </a:lnTo>
                  <a:lnTo>
                    <a:pt x="0" y="2709333"/>
                  </a:lnTo>
                  <a:close/>
                </a:path>
              </a:pathLst>
            </a:custGeom>
            <a:solidFill>
              <a:srgbClr val="FFFFFF"/>
            </a:solidFill>
          </p:spPr>
        </p:sp>
        <p:sp>
          <p:nvSpPr>
            <p:cNvPr name="TextBox 4" id="4"/>
            <p:cNvSpPr txBox="true"/>
            <p:nvPr/>
          </p:nvSpPr>
          <p:spPr>
            <a:xfrm>
              <a:off x="0" y="0"/>
              <a:ext cx="1493067" cy="2709333"/>
            </a:xfrm>
            <a:prstGeom prst="rect">
              <a:avLst/>
            </a:prstGeom>
          </p:spPr>
          <p:txBody>
            <a:bodyPr anchor="ctr" rtlCol="false" tIns="50800" lIns="50800" bIns="50800" rIns="50800"/>
            <a:lstStyle/>
            <a:p>
              <a:pPr algn="ctr">
                <a:lnSpc>
                  <a:spcPts val="2729"/>
                </a:lnSpc>
              </a:pPr>
            </a:p>
          </p:txBody>
        </p:sp>
      </p:grpSp>
      <p:grpSp>
        <p:nvGrpSpPr>
          <p:cNvPr name="Group 5" id="5"/>
          <p:cNvGrpSpPr/>
          <p:nvPr/>
        </p:nvGrpSpPr>
        <p:grpSpPr>
          <a:xfrm rot="-10800000">
            <a:off x="5392935" y="0"/>
            <a:ext cx="276056" cy="10287000"/>
            <a:chOff x="0" y="0"/>
            <a:chExt cx="72706" cy="2709333"/>
          </a:xfrm>
        </p:grpSpPr>
        <p:sp>
          <p:nvSpPr>
            <p:cNvPr name="Freeform 6" id="6"/>
            <p:cNvSpPr/>
            <p:nvPr/>
          </p:nvSpPr>
          <p:spPr>
            <a:xfrm flipH="false" flipV="false" rot="0">
              <a:off x="0" y="0"/>
              <a:ext cx="72706" cy="2709333"/>
            </a:xfrm>
            <a:custGeom>
              <a:avLst/>
              <a:gdLst/>
              <a:ahLst/>
              <a:cxnLst/>
              <a:rect r="r" b="b" t="t" l="l"/>
              <a:pathLst>
                <a:path h="2709333" w="72706">
                  <a:moveTo>
                    <a:pt x="0" y="0"/>
                  </a:moveTo>
                  <a:lnTo>
                    <a:pt x="72706" y="0"/>
                  </a:lnTo>
                  <a:lnTo>
                    <a:pt x="72706" y="2709333"/>
                  </a:lnTo>
                  <a:lnTo>
                    <a:pt x="0" y="2709333"/>
                  </a:lnTo>
                  <a:close/>
                </a:path>
              </a:pathLst>
            </a:custGeom>
            <a:gradFill rotWithShape="true">
              <a:gsLst>
                <a:gs pos="0">
                  <a:srgbClr val="0A3F3A">
                    <a:alpha val="100000"/>
                  </a:srgbClr>
                </a:gs>
                <a:gs pos="50000">
                  <a:srgbClr val="116E71">
                    <a:alpha val="100000"/>
                  </a:srgbClr>
                </a:gs>
                <a:gs pos="100000">
                  <a:srgbClr val="43D8C6">
                    <a:alpha val="100000"/>
                  </a:srgbClr>
                </a:gs>
              </a:gsLst>
              <a:path path="circle">
                <a:fillToRect l="0" r="100000" t="0" b="100000"/>
              </a:path>
              <a:tileRect r="0" l="-100000" b="0" t="-100000"/>
            </a:gradFill>
          </p:spPr>
        </p:sp>
        <p:sp>
          <p:nvSpPr>
            <p:cNvPr name="TextBox 7" id="7"/>
            <p:cNvSpPr txBox="true"/>
            <p:nvPr/>
          </p:nvSpPr>
          <p:spPr>
            <a:xfrm>
              <a:off x="0" y="0"/>
              <a:ext cx="72706" cy="2709333"/>
            </a:xfrm>
            <a:prstGeom prst="rect">
              <a:avLst/>
            </a:prstGeom>
          </p:spPr>
          <p:txBody>
            <a:bodyPr anchor="ctr" rtlCol="false" tIns="50800" lIns="50800" bIns="50800" rIns="50800"/>
            <a:lstStyle/>
            <a:p>
              <a:pPr algn="ctr">
                <a:lnSpc>
                  <a:spcPts val="2729"/>
                </a:lnSpc>
              </a:pPr>
            </a:p>
          </p:txBody>
        </p:sp>
      </p:grpSp>
      <p:sp>
        <p:nvSpPr>
          <p:cNvPr name="TextBox 8" id="8"/>
          <p:cNvSpPr txBox="true"/>
          <p:nvPr/>
        </p:nvSpPr>
        <p:spPr>
          <a:xfrm rot="0">
            <a:off x="173156" y="995383"/>
            <a:ext cx="5357806" cy="1223071"/>
          </a:xfrm>
          <a:prstGeom prst="rect">
            <a:avLst/>
          </a:prstGeom>
        </p:spPr>
        <p:txBody>
          <a:bodyPr anchor="t" rtlCol="false" tIns="0" lIns="0" bIns="0" rIns="0">
            <a:spAutoFit/>
          </a:bodyPr>
          <a:lstStyle/>
          <a:p>
            <a:pPr algn="l">
              <a:lnSpc>
                <a:spcPts val="8628"/>
              </a:lnSpc>
            </a:pPr>
            <a:r>
              <a:rPr lang="en-US" sz="8628" b="true">
                <a:solidFill>
                  <a:srgbClr val="0B4B49"/>
                </a:solidFill>
                <a:latin typeface="Poppins Bold"/>
                <a:ea typeface="Poppins Bold"/>
                <a:cs typeface="Poppins Bold"/>
                <a:sym typeface="Poppins Bold"/>
              </a:rPr>
              <a:t>overview</a:t>
            </a:r>
          </a:p>
        </p:txBody>
      </p:sp>
      <p:grpSp>
        <p:nvGrpSpPr>
          <p:cNvPr name="Group 9" id="9"/>
          <p:cNvGrpSpPr/>
          <p:nvPr/>
        </p:nvGrpSpPr>
        <p:grpSpPr>
          <a:xfrm rot="0">
            <a:off x="6023422" y="370523"/>
            <a:ext cx="4735292" cy="931278"/>
            <a:chOff x="0" y="0"/>
            <a:chExt cx="1247155" cy="245275"/>
          </a:xfrm>
        </p:grpSpPr>
        <p:sp>
          <p:nvSpPr>
            <p:cNvPr name="Freeform 10" id="10"/>
            <p:cNvSpPr/>
            <p:nvPr/>
          </p:nvSpPr>
          <p:spPr>
            <a:xfrm flipH="false" flipV="false" rot="0">
              <a:off x="0" y="0"/>
              <a:ext cx="1247155" cy="245275"/>
            </a:xfrm>
            <a:custGeom>
              <a:avLst/>
              <a:gdLst/>
              <a:ahLst/>
              <a:cxnLst/>
              <a:rect r="r" b="b" t="t" l="l"/>
              <a:pathLst>
                <a:path h="245275" w="1247155">
                  <a:moveTo>
                    <a:pt x="0" y="0"/>
                  </a:moveTo>
                  <a:lnTo>
                    <a:pt x="1247155" y="0"/>
                  </a:lnTo>
                  <a:lnTo>
                    <a:pt x="1247155" y="245275"/>
                  </a:lnTo>
                  <a:lnTo>
                    <a:pt x="0" y="245275"/>
                  </a:lnTo>
                  <a:close/>
                </a:path>
              </a:pathLst>
            </a:custGeom>
            <a:solidFill>
              <a:srgbClr val="80BFAC"/>
            </a:solidFill>
          </p:spPr>
        </p:sp>
        <p:sp>
          <p:nvSpPr>
            <p:cNvPr name="TextBox 11" id="11"/>
            <p:cNvSpPr txBox="true"/>
            <p:nvPr/>
          </p:nvSpPr>
          <p:spPr>
            <a:xfrm>
              <a:off x="0" y="0"/>
              <a:ext cx="1247155" cy="245275"/>
            </a:xfrm>
            <a:prstGeom prst="rect">
              <a:avLst/>
            </a:prstGeom>
          </p:spPr>
          <p:txBody>
            <a:bodyPr anchor="ctr" rtlCol="false" tIns="50800" lIns="50800" bIns="50800" rIns="50800"/>
            <a:lstStyle/>
            <a:p>
              <a:pPr algn="ctr">
                <a:lnSpc>
                  <a:spcPts val="2729"/>
                </a:lnSpc>
              </a:pPr>
            </a:p>
          </p:txBody>
        </p:sp>
      </p:grpSp>
      <p:sp>
        <p:nvSpPr>
          <p:cNvPr name="TextBox 12" id="12"/>
          <p:cNvSpPr txBox="true"/>
          <p:nvPr/>
        </p:nvSpPr>
        <p:spPr>
          <a:xfrm rot="0">
            <a:off x="6229713" y="626508"/>
            <a:ext cx="2973668" cy="426251"/>
          </a:xfrm>
          <a:prstGeom prst="rect">
            <a:avLst/>
          </a:prstGeom>
        </p:spPr>
        <p:txBody>
          <a:bodyPr anchor="t" rtlCol="false" tIns="0" lIns="0" bIns="0" rIns="0">
            <a:spAutoFit/>
          </a:bodyPr>
          <a:lstStyle/>
          <a:p>
            <a:pPr algn="ctr">
              <a:lnSpc>
                <a:spcPts val="3021"/>
              </a:lnSpc>
              <a:spcBef>
                <a:spcPct val="0"/>
              </a:spcBef>
            </a:pPr>
            <a:r>
              <a:rPr lang="en-US" b="true" sz="2823">
                <a:solidFill>
                  <a:srgbClr val="FFFFFF"/>
                </a:solidFill>
                <a:latin typeface="Poppins Semi-Bold"/>
                <a:ea typeface="Poppins Semi-Bold"/>
                <a:cs typeface="Poppins Semi-Bold"/>
                <a:sym typeface="Poppins Semi-Bold"/>
              </a:rPr>
              <a:t>INTRODUCTION</a:t>
            </a:r>
          </a:p>
        </p:txBody>
      </p:sp>
      <p:grpSp>
        <p:nvGrpSpPr>
          <p:cNvPr name="Group 13" id="13"/>
          <p:cNvGrpSpPr/>
          <p:nvPr/>
        </p:nvGrpSpPr>
        <p:grpSpPr>
          <a:xfrm rot="0">
            <a:off x="6023422" y="1471860"/>
            <a:ext cx="4735292" cy="931278"/>
            <a:chOff x="0" y="0"/>
            <a:chExt cx="1247155" cy="245275"/>
          </a:xfrm>
        </p:grpSpPr>
        <p:sp>
          <p:nvSpPr>
            <p:cNvPr name="Freeform 14" id="14"/>
            <p:cNvSpPr/>
            <p:nvPr/>
          </p:nvSpPr>
          <p:spPr>
            <a:xfrm flipH="false" flipV="false" rot="0">
              <a:off x="0" y="0"/>
              <a:ext cx="1247155" cy="245275"/>
            </a:xfrm>
            <a:custGeom>
              <a:avLst/>
              <a:gdLst/>
              <a:ahLst/>
              <a:cxnLst/>
              <a:rect r="r" b="b" t="t" l="l"/>
              <a:pathLst>
                <a:path h="245275" w="1247155">
                  <a:moveTo>
                    <a:pt x="0" y="0"/>
                  </a:moveTo>
                  <a:lnTo>
                    <a:pt x="1247155" y="0"/>
                  </a:lnTo>
                  <a:lnTo>
                    <a:pt x="1247155" y="245275"/>
                  </a:lnTo>
                  <a:lnTo>
                    <a:pt x="0" y="245275"/>
                  </a:lnTo>
                  <a:close/>
                </a:path>
              </a:pathLst>
            </a:custGeom>
            <a:solidFill>
              <a:srgbClr val="80BFAC"/>
            </a:solidFill>
          </p:spPr>
        </p:sp>
        <p:sp>
          <p:nvSpPr>
            <p:cNvPr name="TextBox 15" id="15"/>
            <p:cNvSpPr txBox="true"/>
            <p:nvPr/>
          </p:nvSpPr>
          <p:spPr>
            <a:xfrm>
              <a:off x="0" y="0"/>
              <a:ext cx="1247155" cy="245275"/>
            </a:xfrm>
            <a:prstGeom prst="rect">
              <a:avLst/>
            </a:prstGeom>
          </p:spPr>
          <p:txBody>
            <a:bodyPr anchor="ctr" rtlCol="false" tIns="50800" lIns="50800" bIns="50800" rIns="50800"/>
            <a:lstStyle/>
            <a:p>
              <a:pPr algn="ctr">
                <a:lnSpc>
                  <a:spcPts val="2729"/>
                </a:lnSpc>
              </a:pPr>
            </a:p>
          </p:txBody>
        </p:sp>
      </p:grpSp>
      <p:sp>
        <p:nvSpPr>
          <p:cNvPr name="TextBox 16" id="16"/>
          <p:cNvSpPr txBox="true"/>
          <p:nvPr/>
        </p:nvSpPr>
        <p:spPr>
          <a:xfrm rot="0">
            <a:off x="6229713" y="1719712"/>
            <a:ext cx="3826336" cy="426251"/>
          </a:xfrm>
          <a:prstGeom prst="rect">
            <a:avLst/>
          </a:prstGeom>
        </p:spPr>
        <p:txBody>
          <a:bodyPr anchor="t" rtlCol="false" tIns="0" lIns="0" bIns="0" rIns="0">
            <a:spAutoFit/>
          </a:bodyPr>
          <a:lstStyle/>
          <a:p>
            <a:pPr algn="ctr">
              <a:lnSpc>
                <a:spcPts val="3021"/>
              </a:lnSpc>
              <a:spcBef>
                <a:spcPct val="0"/>
              </a:spcBef>
            </a:pPr>
            <a:r>
              <a:rPr lang="en-US" b="true" sz="2823">
                <a:solidFill>
                  <a:srgbClr val="FFFFFF"/>
                </a:solidFill>
                <a:latin typeface="Poppins Semi-Bold"/>
                <a:ea typeface="Poppins Semi-Bold"/>
                <a:cs typeface="Poppins Semi-Bold"/>
                <a:sym typeface="Poppins Semi-Bold"/>
              </a:rPr>
              <a:t>PROBLEM STATEMENT</a:t>
            </a:r>
          </a:p>
        </p:txBody>
      </p:sp>
      <p:grpSp>
        <p:nvGrpSpPr>
          <p:cNvPr name="Group 17" id="17"/>
          <p:cNvGrpSpPr/>
          <p:nvPr/>
        </p:nvGrpSpPr>
        <p:grpSpPr>
          <a:xfrm rot="0">
            <a:off x="6023422" y="2574588"/>
            <a:ext cx="4735292" cy="931278"/>
            <a:chOff x="0" y="0"/>
            <a:chExt cx="1247155" cy="245275"/>
          </a:xfrm>
        </p:grpSpPr>
        <p:sp>
          <p:nvSpPr>
            <p:cNvPr name="Freeform 18" id="18"/>
            <p:cNvSpPr/>
            <p:nvPr/>
          </p:nvSpPr>
          <p:spPr>
            <a:xfrm flipH="false" flipV="false" rot="0">
              <a:off x="0" y="0"/>
              <a:ext cx="1247155" cy="245275"/>
            </a:xfrm>
            <a:custGeom>
              <a:avLst/>
              <a:gdLst/>
              <a:ahLst/>
              <a:cxnLst/>
              <a:rect r="r" b="b" t="t" l="l"/>
              <a:pathLst>
                <a:path h="245275" w="1247155">
                  <a:moveTo>
                    <a:pt x="0" y="0"/>
                  </a:moveTo>
                  <a:lnTo>
                    <a:pt x="1247155" y="0"/>
                  </a:lnTo>
                  <a:lnTo>
                    <a:pt x="1247155" y="245275"/>
                  </a:lnTo>
                  <a:lnTo>
                    <a:pt x="0" y="245275"/>
                  </a:lnTo>
                  <a:close/>
                </a:path>
              </a:pathLst>
            </a:custGeom>
            <a:solidFill>
              <a:srgbClr val="80BFAC"/>
            </a:solidFill>
          </p:spPr>
        </p:sp>
        <p:sp>
          <p:nvSpPr>
            <p:cNvPr name="TextBox 19" id="19"/>
            <p:cNvSpPr txBox="true"/>
            <p:nvPr/>
          </p:nvSpPr>
          <p:spPr>
            <a:xfrm>
              <a:off x="0" y="0"/>
              <a:ext cx="1247155" cy="245275"/>
            </a:xfrm>
            <a:prstGeom prst="rect">
              <a:avLst/>
            </a:prstGeom>
          </p:spPr>
          <p:txBody>
            <a:bodyPr anchor="ctr" rtlCol="false" tIns="50800" lIns="50800" bIns="50800" rIns="50800"/>
            <a:lstStyle/>
            <a:p>
              <a:pPr algn="ctr">
                <a:lnSpc>
                  <a:spcPts val="2729"/>
                </a:lnSpc>
              </a:pPr>
            </a:p>
          </p:txBody>
        </p:sp>
      </p:grpSp>
      <p:sp>
        <p:nvSpPr>
          <p:cNvPr name="TextBox 20" id="20"/>
          <p:cNvSpPr txBox="true"/>
          <p:nvPr/>
        </p:nvSpPr>
        <p:spPr>
          <a:xfrm rot="0">
            <a:off x="6229713" y="2822238"/>
            <a:ext cx="2203516" cy="426251"/>
          </a:xfrm>
          <a:prstGeom prst="rect">
            <a:avLst/>
          </a:prstGeom>
        </p:spPr>
        <p:txBody>
          <a:bodyPr anchor="t" rtlCol="false" tIns="0" lIns="0" bIns="0" rIns="0">
            <a:spAutoFit/>
          </a:bodyPr>
          <a:lstStyle/>
          <a:p>
            <a:pPr algn="ctr">
              <a:lnSpc>
                <a:spcPts val="3021"/>
              </a:lnSpc>
              <a:spcBef>
                <a:spcPct val="0"/>
              </a:spcBef>
            </a:pPr>
            <a:r>
              <a:rPr lang="en-US" b="true" sz="2823">
                <a:solidFill>
                  <a:srgbClr val="FFFFFF"/>
                </a:solidFill>
                <a:latin typeface="Poppins Semi-Bold"/>
                <a:ea typeface="Poppins Semi-Bold"/>
                <a:cs typeface="Poppins Semi-Bold"/>
                <a:sym typeface="Poppins Semi-Bold"/>
              </a:rPr>
              <a:t>OBJECTIVES</a:t>
            </a:r>
          </a:p>
        </p:txBody>
      </p:sp>
      <p:grpSp>
        <p:nvGrpSpPr>
          <p:cNvPr name="Group 21" id="21"/>
          <p:cNvGrpSpPr/>
          <p:nvPr/>
        </p:nvGrpSpPr>
        <p:grpSpPr>
          <a:xfrm rot="0">
            <a:off x="6023422" y="3677316"/>
            <a:ext cx="4735292" cy="931278"/>
            <a:chOff x="0" y="0"/>
            <a:chExt cx="1247155" cy="245275"/>
          </a:xfrm>
        </p:grpSpPr>
        <p:sp>
          <p:nvSpPr>
            <p:cNvPr name="Freeform 22" id="22"/>
            <p:cNvSpPr/>
            <p:nvPr/>
          </p:nvSpPr>
          <p:spPr>
            <a:xfrm flipH="false" flipV="false" rot="0">
              <a:off x="0" y="0"/>
              <a:ext cx="1247155" cy="245275"/>
            </a:xfrm>
            <a:custGeom>
              <a:avLst/>
              <a:gdLst/>
              <a:ahLst/>
              <a:cxnLst/>
              <a:rect r="r" b="b" t="t" l="l"/>
              <a:pathLst>
                <a:path h="245275" w="1247155">
                  <a:moveTo>
                    <a:pt x="0" y="0"/>
                  </a:moveTo>
                  <a:lnTo>
                    <a:pt x="1247155" y="0"/>
                  </a:lnTo>
                  <a:lnTo>
                    <a:pt x="1247155" y="245275"/>
                  </a:lnTo>
                  <a:lnTo>
                    <a:pt x="0" y="245275"/>
                  </a:lnTo>
                  <a:close/>
                </a:path>
              </a:pathLst>
            </a:custGeom>
            <a:solidFill>
              <a:srgbClr val="80BFAC"/>
            </a:solidFill>
          </p:spPr>
        </p:sp>
        <p:sp>
          <p:nvSpPr>
            <p:cNvPr name="TextBox 23" id="23"/>
            <p:cNvSpPr txBox="true"/>
            <p:nvPr/>
          </p:nvSpPr>
          <p:spPr>
            <a:xfrm>
              <a:off x="0" y="0"/>
              <a:ext cx="1247155" cy="245275"/>
            </a:xfrm>
            <a:prstGeom prst="rect">
              <a:avLst/>
            </a:prstGeom>
          </p:spPr>
          <p:txBody>
            <a:bodyPr anchor="ctr" rtlCol="false" tIns="50800" lIns="50800" bIns="50800" rIns="50800"/>
            <a:lstStyle/>
            <a:p>
              <a:pPr algn="ctr">
                <a:lnSpc>
                  <a:spcPts val="2729"/>
                </a:lnSpc>
              </a:pPr>
            </a:p>
          </p:txBody>
        </p:sp>
      </p:grpSp>
      <p:sp>
        <p:nvSpPr>
          <p:cNvPr name="TextBox 24" id="24"/>
          <p:cNvSpPr txBox="true"/>
          <p:nvPr/>
        </p:nvSpPr>
        <p:spPr>
          <a:xfrm rot="0">
            <a:off x="6229713" y="3929829"/>
            <a:ext cx="3702562" cy="426251"/>
          </a:xfrm>
          <a:prstGeom prst="rect">
            <a:avLst/>
          </a:prstGeom>
        </p:spPr>
        <p:txBody>
          <a:bodyPr anchor="t" rtlCol="false" tIns="0" lIns="0" bIns="0" rIns="0">
            <a:spAutoFit/>
          </a:bodyPr>
          <a:lstStyle/>
          <a:p>
            <a:pPr algn="ctr">
              <a:lnSpc>
                <a:spcPts val="3021"/>
              </a:lnSpc>
              <a:spcBef>
                <a:spcPct val="0"/>
              </a:spcBef>
            </a:pPr>
            <a:r>
              <a:rPr lang="en-US" b="true" sz="2823">
                <a:solidFill>
                  <a:srgbClr val="FFFFFF"/>
                </a:solidFill>
                <a:latin typeface="Poppins Semi-Bold"/>
                <a:ea typeface="Poppins Semi-Bold"/>
                <a:cs typeface="Poppins Semi-Bold"/>
                <a:sym typeface="Poppins Semi-Bold"/>
              </a:rPr>
              <a:t>SCOPE &amp; LIMITATION</a:t>
            </a:r>
          </a:p>
        </p:txBody>
      </p:sp>
      <p:grpSp>
        <p:nvGrpSpPr>
          <p:cNvPr name="Group 25" id="25"/>
          <p:cNvGrpSpPr/>
          <p:nvPr/>
        </p:nvGrpSpPr>
        <p:grpSpPr>
          <a:xfrm rot="0">
            <a:off x="6023422" y="4780044"/>
            <a:ext cx="4735292" cy="931278"/>
            <a:chOff x="0" y="0"/>
            <a:chExt cx="1247155" cy="245275"/>
          </a:xfrm>
        </p:grpSpPr>
        <p:sp>
          <p:nvSpPr>
            <p:cNvPr name="Freeform 26" id="26"/>
            <p:cNvSpPr/>
            <p:nvPr/>
          </p:nvSpPr>
          <p:spPr>
            <a:xfrm flipH="false" flipV="false" rot="0">
              <a:off x="0" y="0"/>
              <a:ext cx="1247155" cy="245275"/>
            </a:xfrm>
            <a:custGeom>
              <a:avLst/>
              <a:gdLst/>
              <a:ahLst/>
              <a:cxnLst/>
              <a:rect r="r" b="b" t="t" l="l"/>
              <a:pathLst>
                <a:path h="245275" w="1247155">
                  <a:moveTo>
                    <a:pt x="0" y="0"/>
                  </a:moveTo>
                  <a:lnTo>
                    <a:pt x="1247155" y="0"/>
                  </a:lnTo>
                  <a:lnTo>
                    <a:pt x="1247155" y="245275"/>
                  </a:lnTo>
                  <a:lnTo>
                    <a:pt x="0" y="245275"/>
                  </a:lnTo>
                  <a:close/>
                </a:path>
              </a:pathLst>
            </a:custGeom>
            <a:solidFill>
              <a:srgbClr val="80BFAC"/>
            </a:solidFill>
          </p:spPr>
        </p:sp>
        <p:sp>
          <p:nvSpPr>
            <p:cNvPr name="TextBox 27" id="27"/>
            <p:cNvSpPr txBox="true"/>
            <p:nvPr/>
          </p:nvSpPr>
          <p:spPr>
            <a:xfrm>
              <a:off x="0" y="0"/>
              <a:ext cx="1247155" cy="245275"/>
            </a:xfrm>
            <a:prstGeom prst="rect">
              <a:avLst/>
            </a:prstGeom>
          </p:spPr>
          <p:txBody>
            <a:bodyPr anchor="ctr" rtlCol="false" tIns="50800" lIns="50800" bIns="50800" rIns="50800"/>
            <a:lstStyle/>
            <a:p>
              <a:pPr algn="ctr">
                <a:lnSpc>
                  <a:spcPts val="2729"/>
                </a:lnSpc>
              </a:pPr>
            </a:p>
          </p:txBody>
        </p:sp>
      </p:grpSp>
      <p:sp>
        <p:nvSpPr>
          <p:cNvPr name="TextBox 28" id="28"/>
          <p:cNvSpPr txBox="true"/>
          <p:nvPr/>
        </p:nvSpPr>
        <p:spPr>
          <a:xfrm rot="0">
            <a:off x="6229713" y="5037219"/>
            <a:ext cx="2341043" cy="426251"/>
          </a:xfrm>
          <a:prstGeom prst="rect">
            <a:avLst/>
          </a:prstGeom>
        </p:spPr>
        <p:txBody>
          <a:bodyPr anchor="t" rtlCol="false" tIns="0" lIns="0" bIns="0" rIns="0">
            <a:spAutoFit/>
          </a:bodyPr>
          <a:lstStyle/>
          <a:p>
            <a:pPr algn="ctr">
              <a:lnSpc>
                <a:spcPts val="3021"/>
              </a:lnSpc>
              <a:spcBef>
                <a:spcPct val="0"/>
              </a:spcBef>
            </a:pPr>
            <a:r>
              <a:rPr lang="en-US" b="true" sz="2823">
                <a:solidFill>
                  <a:srgbClr val="FFFFFF"/>
                </a:solidFill>
                <a:latin typeface="Poppins Semi-Bold"/>
                <a:ea typeface="Poppins Semi-Bold"/>
                <a:cs typeface="Poppins Semi-Bold"/>
                <a:sym typeface="Poppins Semi-Bold"/>
              </a:rPr>
              <a:t>HYPOTHESES</a:t>
            </a:r>
          </a:p>
        </p:txBody>
      </p:sp>
      <p:grpSp>
        <p:nvGrpSpPr>
          <p:cNvPr name="Group 29" id="29"/>
          <p:cNvGrpSpPr/>
          <p:nvPr/>
        </p:nvGrpSpPr>
        <p:grpSpPr>
          <a:xfrm rot="0">
            <a:off x="6023422" y="5882772"/>
            <a:ext cx="4735292" cy="931278"/>
            <a:chOff x="0" y="0"/>
            <a:chExt cx="1247155" cy="245275"/>
          </a:xfrm>
        </p:grpSpPr>
        <p:sp>
          <p:nvSpPr>
            <p:cNvPr name="Freeform 30" id="30"/>
            <p:cNvSpPr/>
            <p:nvPr/>
          </p:nvSpPr>
          <p:spPr>
            <a:xfrm flipH="false" flipV="false" rot="0">
              <a:off x="0" y="0"/>
              <a:ext cx="1247155" cy="245275"/>
            </a:xfrm>
            <a:custGeom>
              <a:avLst/>
              <a:gdLst/>
              <a:ahLst/>
              <a:cxnLst/>
              <a:rect r="r" b="b" t="t" l="l"/>
              <a:pathLst>
                <a:path h="245275" w="1247155">
                  <a:moveTo>
                    <a:pt x="0" y="0"/>
                  </a:moveTo>
                  <a:lnTo>
                    <a:pt x="1247155" y="0"/>
                  </a:lnTo>
                  <a:lnTo>
                    <a:pt x="1247155" y="245275"/>
                  </a:lnTo>
                  <a:lnTo>
                    <a:pt x="0" y="245275"/>
                  </a:lnTo>
                  <a:close/>
                </a:path>
              </a:pathLst>
            </a:custGeom>
            <a:solidFill>
              <a:srgbClr val="80BFAC"/>
            </a:solidFill>
          </p:spPr>
        </p:sp>
        <p:sp>
          <p:nvSpPr>
            <p:cNvPr name="TextBox 31" id="31"/>
            <p:cNvSpPr txBox="true"/>
            <p:nvPr/>
          </p:nvSpPr>
          <p:spPr>
            <a:xfrm>
              <a:off x="0" y="0"/>
              <a:ext cx="1247155" cy="245275"/>
            </a:xfrm>
            <a:prstGeom prst="rect">
              <a:avLst/>
            </a:prstGeom>
          </p:spPr>
          <p:txBody>
            <a:bodyPr anchor="ctr" rtlCol="false" tIns="50800" lIns="50800" bIns="50800" rIns="50800"/>
            <a:lstStyle/>
            <a:p>
              <a:pPr algn="ctr">
                <a:lnSpc>
                  <a:spcPts val="2729"/>
                </a:lnSpc>
              </a:pPr>
            </a:p>
          </p:txBody>
        </p:sp>
      </p:grpSp>
      <p:sp>
        <p:nvSpPr>
          <p:cNvPr name="TextBox 32" id="32"/>
          <p:cNvSpPr txBox="true"/>
          <p:nvPr/>
        </p:nvSpPr>
        <p:spPr>
          <a:xfrm rot="0">
            <a:off x="6229713" y="6139947"/>
            <a:ext cx="3344991" cy="426251"/>
          </a:xfrm>
          <a:prstGeom prst="rect">
            <a:avLst/>
          </a:prstGeom>
        </p:spPr>
        <p:txBody>
          <a:bodyPr anchor="t" rtlCol="false" tIns="0" lIns="0" bIns="0" rIns="0">
            <a:spAutoFit/>
          </a:bodyPr>
          <a:lstStyle/>
          <a:p>
            <a:pPr algn="ctr">
              <a:lnSpc>
                <a:spcPts val="3021"/>
              </a:lnSpc>
              <a:spcBef>
                <a:spcPct val="0"/>
              </a:spcBef>
            </a:pPr>
            <a:r>
              <a:rPr lang="en-US" b="true" sz="2823">
                <a:solidFill>
                  <a:srgbClr val="FFFFFF"/>
                </a:solidFill>
                <a:latin typeface="Poppins Semi-Bold"/>
                <a:ea typeface="Poppins Semi-Bold"/>
                <a:cs typeface="Poppins Semi-Bold"/>
                <a:sym typeface="Poppins Semi-Bold"/>
              </a:rPr>
              <a:t>DATA COLLECTION</a:t>
            </a:r>
          </a:p>
        </p:txBody>
      </p:sp>
      <p:grpSp>
        <p:nvGrpSpPr>
          <p:cNvPr name="Group 33" id="33"/>
          <p:cNvGrpSpPr/>
          <p:nvPr/>
        </p:nvGrpSpPr>
        <p:grpSpPr>
          <a:xfrm rot="0">
            <a:off x="6023422" y="6985501"/>
            <a:ext cx="4735292" cy="931278"/>
            <a:chOff x="0" y="0"/>
            <a:chExt cx="1247155" cy="245275"/>
          </a:xfrm>
        </p:grpSpPr>
        <p:sp>
          <p:nvSpPr>
            <p:cNvPr name="Freeform 34" id="34"/>
            <p:cNvSpPr/>
            <p:nvPr/>
          </p:nvSpPr>
          <p:spPr>
            <a:xfrm flipH="false" flipV="false" rot="0">
              <a:off x="0" y="0"/>
              <a:ext cx="1247155" cy="245275"/>
            </a:xfrm>
            <a:custGeom>
              <a:avLst/>
              <a:gdLst/>
              <a:ahLst/>
              <a:cxnLst/>
              <a:rect r="r" b="b" t="t" l="l"/>
              <a:pathLst>
                <a:path h="245275" w="1247155">
                  <a:moveTo>
                    <a:pt x="0" y="0"/>
                  </a:moveTo>
                  <a:lnTo>
                    <a:pt x="1247155" y="0"/>
                  </a:lnTo>
                  <a:lnTo>
                    <a:pt x="1247155" y="245275"/>
                  </a:lnTo>
                  <a:lnTo>
                    <a:pt x="0" y="245275"/>
                  </a:lnTo>
                  <a:close/>
                </a:path>
              </a:pathLst>
            </a:custGeom>
            <a:solidFill>
              <a:srgbClr val="80BFAC"/>
            </a:solidFill>
          </p:spPr>
        </p:sp>
        <p:sp>
          <p:nvSpPr>
            <p:cNvPr name="TextBox 35" id="35"/>
            <p:cNvSpPr txBox="true"/>
            <p:nvPr/>
          </p:nvSpPr>
          <p:spPr>
            <a:xfrm>
              <a:off x="0" y="0"/>
              <a:ext cx="1247155" cy="245275"/>
            </a:xfrm>
            <a:prstGeom prst="rect">
              <a:avLst/>
            </a:prstGeom>
          </p:spPr>
          <p:txBody>
            <a:bodyPr anchor="ctr" rtlCol="false" tIns="50800" lIns="50800" bIns="50800" rIns="50800"/>
            <a:lstStyle/>
            <a:p>
              <a:pPr algn="ctr">
                <a:lnSpc>
                  <a:spcPts val="2729"/>
                </a:lnSpc>
              </a:pPr>
            </a:p>
          </p:txBody>
        </p:sp>
      </p:grpSp>
      <p:sp>
        <p:nvSpPr>
          <p:cNvPr name="TextBox 36" id="36"/>
          <p:cNvSpPr txBox="true"/>
          <p:nvPr/>
        </p:nvSpPr>
        <p:spPr>
          <a:xfrm rot="0">
            <a:off x="6229713" y="7242676"/>
            <a:ext cx="745729" cy="426251"/>
          </a:xfrm>
          <a:prstGeom prst="rect">
            <a:avLst/>
          </a:prstGeom>
        </p:spPr>
        <p:txBody>
          <a:bodyPr anchor="t" rtlCol="false" tIns="0" lIns="0" bIns="0" rIns="0">
            <a:spAutoFit/>
          </a:bodyPr>
          <a:lstStyle/>
          <a:p>
            <a:pPr algn="ctr">
              <a:lnSpc>
                <a:spcPts val="3021"/>
              </a:lnSpc>
              <a:spcBef>
                <a:spcPct val="0"/>
              </a:spcBef>
            </a:pPr>
            <a:r>
              <a:rPr lang="en-US" b="true" sz="2823">
                <a:solidFill>
                  <a:srgbClr val="FFFFFF"/>
                </a:solidFill>
                <a:latin typeface="Poppins Semi-Bold"/>
                <a:ea typeface="Poppins Semi-Bold"/>
                <a:cs typeface="Poppins Semi-Bold"/>
                <a:sym typeface="Poppins Semi-Bold"/>
              </a:rPr>
              <a:t>EDA </a:t>
            </a:r>
          </a:p>
        </p:txBody>
      </p:sp>
      <p:grpSp>
        <p:nvGrpSpPr>
          <p:cNvPr name="Group 37" id="37"/>
          <p:cNvGrpSpPr/>
          <p:nvPr/>
        </p:nvGrpSpPr>
        <p:grpSpPr>
          <a:xfrm rot="0">
            <a:off x="6023422" y="8088229"/>
            <a:ext cx="4735292" cy="931278"/>
            <a:chOff x="0" y="0"/>
            <a:chExt cx="1247155" cy="245275"/>
          </a:xfrm>
        </p:grpSpPr>
        <p:sp>
          <p:nvSpPr>
            <p:cNvPr name="Freeform 38" id="38"/>
            <p:cNvSpPr/>
            <p:nvPr/>
          </p:nvSpPr>
          <p:spPr>
            <a:xfrm flipH="false" flipV="false" rot="0">
              <a:off x="0" y="0"/>
              <a:ext cx="1247155" cy="245275"/>
            </a:xfrm>
            <a:custGeom>
              <a:avLst/>
              <a:gdLst/>
              <a:ahLst/>
              <a:cxnLst/>
              <a:rect r="r" b="b" t="t" l="l"/>
              <a:pathLst>
                <a:path h="245275" w="1247155">
                  <a:moveTo>
                    <a:pt x="0" y="0"/>
                  </a:moveTo>
                  <a:lnTo>
                    <a:pt x="1247155" y="0"/>
                  </a:lnTo>
                  <a:lnTo>
                    <a:pt x="1247155" y="245275"/>
                  </a:lnTo>
                  <a:lnTo>
                    <a:pt x="0" y="245275"/>
                  </a:lnTo>
                  <a:close/>
                </a:path>
              </a:pathLst>
            </a:custGeom>
            <a:solidFill>
              <a:srgbClr val="80BFAC"/>
            </a:solidFill>
          </p:spPr>
        </p:sp>
        <p:sp>
          <p:nvSpPr>
            <p:cNvPr name="TextBox 39" id="39"/>
            <p:cNvSpPr txBox="true"/>
            <p:nvPr/>
          </p:nvSpPr>
          <p:spPr>
            <a:xfrm>
              <a:off x="0" y="0"/>
              <a:ext cx="1247155" cy="245275"/>
            </a:xfrm>
            <a:prstGeom prst="rect">
              <a:avLst/>
            </a:prstGeom>
          </p:spPr>
          <p:txBody>
            <a:bodyPr anchor="ctr" rtlCol="false" tIns="50800" lIns="50800" bIns="50800" rIns="50800"/>
            <a:lstStyle/>
            <a:p>
              <a:pPr algn="ctr">
                <a:lnSpc>
                  <a:spcPts val="2729"/>
                </a:lnSpc>
              </a:pPr>
            </a:p>
          </p:txBody>
        </p:sp>
      </p:grpSp>
      <p:sp>
        <p:nvSpPr>
          <p:cNvPr name="TextBox 40" id="40"/>
          <p:cNvSpPr txBox="true"/>
          <p:nvPr/>
        </p:nvSpPr>
        <p:spPr>
          <a:xfrm rot="0">
            <a:off x="6229713" y="8345404"/>
            <a:ext cx="4322711" cy="426251"/>
          </a:xfrm>
          <a:prstGeom prst="rect">
            <a:avLst/>
          </a:prstGeom>
        </p:spPr>
        <p:txBody>
          <a:bodyPr anchor="t" rtlCol="false" tIns="0" lIns="0" bIns="0" rIns="0">
            <a:spAutoFit/>
          </a:bodyPr>
          <a:lstStyle/>
          <a:p>
            <a:pPr algn="ctr">
              <a:lnSpc>
                <a:spcPts val="3021"/>
              </a:lnSpc>
              <a:spcBef>
                <a:spcPct val="0"/>
              </a:spcBef>
            </a:pPr>
            <a:r>
              <a:rPr lang="en-US" b="true" sz="2823">
                <a:solidFill>
                  <a:srgbClr val="FFFFFF"/>
                </a:solidFill>
                <a:latin typeface="Poppins Semi-Bold"/>
                <a:ea typeface="Poppins Semi-Bold"/>
                <a:cs typeface="Poppins Semi-Bold"/>
                <a:sym typeface="Poppins Semi-Bold"/>
              </a:rPr>
              <a:t>CORRELATION ANALYSIS</a:t>
            </a:r>
          </a:p>
        </p:txBody>
      </p:sp>
      <p:grpSp>
        <p:nvGrpSpPr>
          <p:cNvPr name="Group 41" id="41"/>
          <p:cNvGrpSpPr/>
          <p:nvPr/>
        </p:nvGrpSpPr>
        <p:grpSpPr>
          <a:xfrm rot="0">
            <a:off x="11454039" y="370523"/>
            <a:ext cx="4735292" cy="931278"/>
            <a:chOff x="0" y="0"/>
            <a:chExt cx="1247155" cy="245275"/>
          </a:xfrm>
        </p:grpSpPr>
        <p:sp>
          <p:nvSpPr>
            <p:cNvPr name="Freeform 42" id="42"/>
            <p:cNvSpPr/>
            <p:nvPr/>
          </p:nvSpPr>
          <p:spPr>
            <a:xfrm flipH="false" flipV="false" rot="0">
              <a:off x="0" y="0"/>
              <a:ext cx="1247155" cy="245275"/>
            </a:xfrm>
            <a:custGeom>
              <a:avLst/>
              <a:gdLst/>
              <a:ahLst/>
              <a:cxnLst/>
              <a:rect r="r" b="b" t="t" l="l"/>
              <a:pathLst>
                <a:path h="245275" w="1247155">
                  <a:moveTo>
                    <a:pt x="0" y="0"/>
                  </a:moveTo>
                  <a:lnTo>
                    <a:pt x="1247155" y="0"/>
                  </a:lnTo>
                  <a:lnTo>
                    <a:pt x="1247155" y="245275"/>
                  </a:lnTo>
                  <a:lnTo>
                    <a:pt x="0" y="245275"/>
                  </a:lnTo>
                  <a:close/>
                </a:path>
              </a:pathLst>
            </a:custGeom>
            <a:solidFill>
              <a:srgbClr val="80BFAC"/>
            </a:solidFill>
          </p:spPr>
        </p:sp>
        <p:sp>
          <p:nvSpPr>
            <p:cNvPr name="TextBox 43" id="43"/>
            <p:cNvSpPr txBox="true"/>
            <p:nvPr/>
          </p:nvSpPr>
          <p:spPr>
            <a:xfrm>
              <a:off x="0" y="0"/>
              <a:ext cx="1247155" cy="245275"/>
            </a:xfrm>
            <a:prstGeom prst="rect">
              <a:avLst/>
            </a:prstGeom>
          </p:spPr>
          <p:txBody>
            <a:bodyPr anchor="ctr" rtlCol="false" tIns="50800" lIns="50800" bIns="50800" rIns="50800"/>
            <a:lstStyle/>
            <a:p>
              <a:pPr algn="ctr">
                <a:lnSpc>
                  <a:spcPts val="2729"/>
                </a:lnSpc>
              </a:pPr>
            </a:p>
          </p:txBody>
        </p:sp>
      </p:grpSp>
      <p:sp>
        <p:nvSpPr>
          <p:cNvPr name="TextBox 44" id="44"/>
          <p:cNvSpPr txBox="true"/>
          <p:nvPr/>
        </p:nvSpPr>
        <p:spPr>
          <a:xfrm rot="0">
            <a:off x="11660330" y="626508"/>
            <a:ext cx="2313538" cy="426251"/>
          </a:xfrm>
          <a:prstGeom prst="rect">
            <a:avLst/>
          </a:prstGeom>
        </p:spPr>
        <p:txBody>
          <a:bodyPr anchor="t" rtlCol="false" tIns="0" lIns="0" bIns="0" rIns="0">
            <a:spAutoFit/>
          </a:bodyPr>
          <a:lstStyle/>
          <a:p>
            <a:pPr algn="ctr">
              <a:lnSpc>
                <a:spcPts val="3021"/>
              </a:lnSpc>
              <a:spcBef>
                <a:spcPct val="0"/>
              </a:spcBef>
            </a:pPr>
            <a:r>
              <a:rPr lang="en-US" b="true" sz="2823">
                <a:solidFill>
                  <a:srgbClr val="FFFFFF"/>
                </a:solidFill>
                <a:latin typeface="Poppins Semi-Bold"/>
                <a:ea typeface="Poppins Semi-Bold"/>
                <a:cs typeface="Poppins Semi-Bold"/>
                <a:sym typeface="Poppins Semi-Bold"/>
              </a:rPr>
              <a:t>REGRESSION</a:t>
            </a:r>
          </a:p>
        </p:txBody>
      </p:sp>
      <p:grpSp>
        <p:nvGrpSpPr>
          <p:cNvPr name="Group 45" id="45"/>
          <p:cNvGrpSpPr/>
          <p:nvPr/>
        </p:nvGrpSpPr>
        <p:grpSpPr>
          <a:xfrm rot="0">
            <a:off x="11454039" y="1467198"/>
            <a:ext cx="4735292" cy="931278"/>
            <a:chOff x="0" y="0"/>
            <a:chExt cx="1247155" cy="245275"/>
          </a:xfrm>
        </p:grpSpPr>
        <p:sp>
          <p:nvSpPr>
            <p:cNvPr name="Freeform 46" id="46"/>
            <p:cNvSpPr/>
            <p:nvPr/>
          </p:nvSpPr>
          <p:spPr>
            <a:xfrm flipH="false" flipV="false" rot="0">
              <a:off x="0" y="0"/>
              <a:ext cx="1247155" cy="245275"/>
            </a:xfrm>
            <a:custGeom>
              <a:avLst/>
              <a:gdLst/>
              <a:ahLst/>
              <a:cxnLst/>
              <a:rect r="r" b="b" t="t" l="l"/>
              <a:pathLst>
                <a:path h="245275" w="1247155">
                  <a:moveTo>
                    <a:pt x="0" y="0"/>
                  </a:moveTo>
                  <a:lnTo>
                    <a:pt x="1247155" y="0"/>
                  </a:lnTo>
                  <a:lnTo>
                    <a:pt x="1247155" y="245275"/>
                  </a:lnTo>
                  <a:lnTo>
                    <a:pt x="0" y="245275"/>
                  </a:lnTo>
                  <a:close/>
                </a:path>
              </a:pathLst>
            </a:custGeom>
            <a:solidFill>
              <a:srgbClr val="80BFAC"/>
            </a:solidFill>
          </p:spPr>
        </p:sp>
        <p:sp>
          <p:nvSpPr>
            <p:cNvPr name="TextBox 47" id="47"/>
            <p:cNvSpPr txBox="true"/>
            <p:nvPr/>
          </p:nvSpPr>
          <p:spPr>
            <a:xfrm>
              <a:off x="0" y="0"/>
              <a:ext cx="1247155" cy="245275"/>
            </a:xfrm>
            <a:prstGeom prst="rect">
              <a:avLst/>
            </a:prstGeom>
          </p:spPr>
          <p:txBody>
            <a:bodyPr anchor="ctr" rtlCol="false" tIns="50800" lIns="50800" bIns="50800" rIns="50800"/>
            <a:lstStyle/>
            <a:p>
              <a:pPr algn="ctr">
                <a:lnSpc>
                  <a:spcPts val="2729"/>
                </a:lnSpc>
              </a:pPr>
            </a:p>
          </p:txBody>
        </p:sp>
      </p:grpSp>
      <p:sp>
        <p:nvSpPr>
          <p:cNvPr name="TextBox 48" id="48"/>
          <p:cNvSpPr txBox="true"/>
          <p:nvPr/>
        </p:nvSpPr>
        <p:spPr>
          <a:xfrm rot="0">
            <a:off x="11660330" y="1723184"/>
            <a:ext cx="1735924" cy="426251"/>
          </a:xfrm>
          <a:prstGeom prst="rect">
            <a:avLst/>
          </a:prstGeom>
        </p:spPr>
        <p:txBody>
          <a:bodyPr anchor="t" rtlCol="false" tIns="0" lIns="0" bIns="0" rIns="0">
            <a:spAutoFit/>
          </a:bodyPr>
          <a:lstStyle/>
          <a:p>
            <a:pPr algn="ctr">
              <a:lnSpc>
                <a:spcPts val="3021"/>
              </a:lnSpc>
              <a:spcBef>
                <a:spcPct val="0"/>
              </a:spcBef>
            </a:pPr>
            <a:r>
              <a:rPr lang="en-US" b="true" sz="2823">
                <a:solidFill>
                  <a:srgbClr val="FFFFFF"/>
                </a:solidFill>
                <a:latin typeface="Poppins Semi-Bold"/>
                <a:ea typeface="Poppins Semi-Bold"/>
                <a:cs typeface="Poppins Semi-Bold"/>
                <a:sym typeface="Poppins Semi-Bold"/>
              </a:rPr>
              <a:t>INSIGHTS</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487845" y="923925"/>
            <a:ext cx="7312310" cy="1239448"/>
          </a:xfrm>
          <a:prstGeom prst="rect">
            <a:avLst/>
          </a:prstGeom>
        </p:spPr>
        <p:txBody>
          <a:bodyPr anchor="t" rtlCol="false" tIns="0" lIns="0" bIns="0" rIns="0">
            <a:spAutoFit/>
          </a:bodyPr>
          <a:lstStyle/>
          <a:p>
            <a:pPr algn="l">
              <a:lnSpc>
                <a:spcPts val="9339"/>
              </a:lnSpc>
            </a:pPr>
            <a:r>
              <a:rPr lang="en-US" sz="7471" b="true">
                <a:solidFill>
                  <a:srgbClr val="0B4B49"/>
                </a:solidFill>
                <a:latin typeface="Poppins Bold"/>
                <a:ea typeface="Poppins Bold"/>
                <a:cs typeface="Poppins Bold"/>
                <a:sym typeface="Poppins Bold"/>
              </a:rPr>
              <a:t>INTRODUCTION</a:t>
            </a:r>
          </a:p>
        </p:txBody>
      </p:sp>
      <p:sp>
        <p:nvSpPr>
          <p:cNvPr name="TextBox 3" id="3"/>
          <p:cNvSpPr txBox="true"/>
          <p:nvPr/>
        </p:nvSpPr>
        <p:spPr>
          <a:xfrm rot="0">
            <a:off x="2464261" y="2475882"/>
            <a:ext cx="13640189" cy="5249511"/>
          </a:xfrm>
          <a:prstGeom prst="rect">
            <a:avLst/>
          </a:prstGeom>
        </p:spPr>
        <p:txBody>
          <a:bodyPr anchor="t" rtlCol="false" tIns="0" lIns="0" bIns="0" rIns="0">
            <a:spAutoFit/>
          </a:bodyPr>
          <a:lstStyle/>
          <a:p>
            <a:pPr algn="just">
              <a:lnSpc>
                <a:spcPts val="4131"/>
              </a:lnSpc>
            </a:pPr>
            <a:r>
              <a:rPr lang="en-US" sz="2951">
                <a:solidFill>
                  <a:srgbClr val="0B4B49"/>
                </a:solidFill>
                <a:latin typeface="Poppins"/>
                <a:ea typeface="Poppins"/>
                <a:cs typeface="Poppins"/>
                <a:sym typeface="Poppins"/>
              </a:rPr>
              <a:t>In today’s modern digital lifestyle, individuals are frequently exposed to high screen time, flexible schedules, and late-night routines. Productivity is influenced not only by psychological factors but also by behavioral patterns such as exercise habits, sleep duration, and digital exposure. While physical activity is generally associated with improved mood, energy, and cognitive function, most existing research focuses on daytime exercise. However, many students and professionals only have time to train at night. This study examines whether late-night resistance training enhances or impairs next-day productivity using a 60-day quantified-self longitudinal dataset.</a:t>
            </a:r>
          </a:p>
        </p:txBody>
      </p:sp>
      <p:grpSp>
        <p:nvGrpSpPr>
          <p:cNvPr name="Group 4" id="4"/>
          <p:cNvGrpSpPr/>
          <p:nvPr/>
        </p:nvGrpSpPr>
        <p:grpSpPr>
          <a:xfrm rot="0">
            <a:off x="-275318" y="8970646"/>
            <a:ext cx="19119348" cy="1316354"/>
            <a:chOff x="0" y="0"/>
            <a:chExt cx="5035548" cy="346694"/>
          </a:xfrm>
        </p:grpSpPr>
        <p:sp>
          <p:nvSpPr>
            <p:cNvPr name="Freeform 5" id="5"/>
            <p:cNvSpPr/>
            <p:nvPr/>
          </p:nvSpPr>
          <p:spPr>
            <a:xfrm flipH="false" flipV="false" rot="0">
              <a:off x="0" y="0"/>
              <a:ext cx="5035548" cy="346694"/>
            </a:xfrm>
            <a:custGeom>
              <a:avLst/>
              <a:gdLst/>
              <a:ahLst/>
              <a:cxnLst/>
              <a:rect r="r" b="b" t="t" l="l"/>
              <a:pathLst>
                <a:path h="346694" w="5035548">
                  <a:moveTo>
                    <a:pt x="0" y="0"/>
                  </a:moveTo>
                  <a:lnTo>
                    <a:pt x="5035548" y="0"/>
                  </a:lnTo>
                  <a:lnTo>
                    <a:pt x="5035548" y="346694"/>
                  </a:lnTo>
                  <a:lnTo>
                    <a:pt x="0" y="346694"/>
                  </a:lnTo>
                  <a:close/>
                </a:path>
              </a:pathLst>
            </a:custGeom>
            <a:solidFill>
              <a:srgbClr val="80BFAC"/>
            </a:solidFill>
          </p:spPr>
        </p:sp>
        <p:sp>
          <p:nvSpPr>
            <p:cNvPr name="TextBox 6" id="6"/>
            <p:cNvSpPr txBox="true"/>
            <p:nvPr/>
          </p:nvSpPr>
          <p:spPr>
            <a:xfrm>
              <a:off x="0" y="0"/>
              <a:ext cx="5035548" cy="346694"/>
            </a:xfrm>
            <a:prstGeom prst="rect">
              <a:avLst/>
            </a:prstGeom>
          </p:spPr>
          <p:txBody>
            <a:bodyPr anchor="ctr" rtlCol="false" tIns="50800" lIns="50800" bIns="50800" rIns="50800"/>
            <a:lstStyle/>
            <a:p>
              <a:pPr algn="ctr">
                <a:lnSpc>
                  <a:spcPts val="2729"/>
                </a:lnSpc>
              </a:pPr>
            </a:p>
          </p:txBody>
        </p:sp>
      </p:grpSp>
      <p:sp>
        <p:nvSpPr>
          <p:cNvPr name="TextBox 7" id="7"/>
          <p:cNvSpPr txBox="true"/>
          <p:nvPr/>
        </p:nvSpPr>
        <p:spPr>
          <a:xfrm rot="0">
            <a:off x="1028700" y="9264797"/>
            <a:ext cx="11328257" cy="728053"/>
          </a:xfrm>
          <a:prstGeom prst="rect">
            <a:avLst/>
          </a:prstGeom>
        </p:spPr>
        <p:txBody>
          <a:bodyPr anchor="t" rtlCol="false" tIns="0" lIns="0" bIns="0" rIns="0">
            <a:spAutoFit/>
          </a:bodyPr>
          <a:lstStyle/>
          <a:p>
            <a:pPr algn="l">
              <a:lnSpc>
                <a:spcPts val="2729"/>
              </a:lnSpc>
            </a:pPr>
            <a:r>
              <a:rPr lang="en-US" sz="2551" b="true">
                <a:solidFill>
                  <a:srgbClr val="FFFFFF"/>
                </a:solidFill>
                <a:latin typeface="Poppins Semi-Bold"/>
                <a:ea typeface="Poppins Semi-Bold"/>
                <a:cs typeface="Poppins Semi-Bold"/>
                <a:sym typeface="Poppins Semi-Bold"/>
              </a:rPr>
              <a:t>A Self-Tracked Analysis of Late-Night Resistance Training and Daily Productivity: The Role of Intensity and Behavioral Factors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332617" y="923925"/>
            <a:ext cx="10324154" cy="1238365"/>
          </a:xfrm>
          <a:prstGeom prst="rect">
            <a:avLst/>
          </a:prstGeom>
        </p:spPr>
        <p:txBody>
          <a:bodyPr anchor="t" rtlCol="false" tIns="0" lIns="0" bIns="0" rIns="0">
            <a:spAutoFit/>
          </a:bodyPr>
          <a:lstStyle/>
          <a:p>
            <a:pPr algn="l">
              <a:lnSpc>
                <a:spcPts val="9339"/>
              </a:lnSpc>
            </a:pPr>
            <a:r>
              <a:rPr lang="en-US" sz="7471" b="true">
                <a:solidFill>
                  <a:srgbClr val="0B4B49"/>
                </a:solidFill>
                <a:latin typeface="Poppins Bold"/>
                <a:ea typeface="Poppins Bold"/>
                <a:cs typeface="Poppins Bold"/>
                <a:sym typeface="Poppins Bold"/>
              </a:rPr>
              <a:t>PROBLEM STATEMENT</a:t>
            </a:r>
          </a:p>
        </p:txBody>
      </p:sp>
      <p:sp>
        <p:nvSpPr>
          <p:cNvPr name="TextBox 3" id="3"/>
          <p:cNvSpPr txBox="true"/>
          <p:nvPr/>
        </p:nvSpPr>
        <p:spPr>
          <a:xfrm rot="0">
            <a:off x="2372323" y="3251665"/>
            <a:ext cx="13543355" cy="3669370"/>
          </a:xfrm>
          <a:prstGeom prst="rect">
            <a:avLst/>
          </a:prstGeom>
        </p:spPr>
        <p:txBody>
          <a:bodyPr anchor="t" rtlCol="false" tIns="0" lIns="0" bIns="0" rIns="0">
            <a:spAutoFit/>
          </a:bodyPr>
          <a:lstStyle/>
          <a:p>
            <a:pPr algn="just" marL="890290" indent="-445145" lvl="1">
              <a:lnSpc>
                <a:spcPts val="5773"/>
              </a:lnSpc>
              <a:buFont typeface="Arial"/>
              <a:buChar char="•"/>
            </a:pPr>
            <a:r>
              <a:rPr lang="en-US" sz="4123">
                <a:solidFill>
                  <a:srgbClr val="0B4B49"/>
                </a:solidFill>
                <a:latin typeface="Poppins"/>
                <a:ea typeface="Poppins"/>
                <a:cs typeface="Poppins"/>
                <a:sym typeface="Poppins"/>
              </a:rPr>
              <a:t>Does late-night resistance training enhance or impair next-day productivity?</a:t>
            </a:r>
          </a:p>
          <a:p>
            <a:pPr algn="just">
              <a:lnSpc>
                <a:spcPts val="5773"/>
              </a:lnSpc>
            </a:pPr>
          </a:p>
          <a:p>
            <a:pPr algn="just" marL="890290" indent="-445145" lvl="1">
              <a:lnSpc>
                <a:spcPts val="5773"/>
              </a:lnSpc>
              <a:buFont typeface="Arial"/>
              <a:buChar char="•"/>
            </a:pPr>
            <a:r>
              <a:rPr lang="en-US" sz="4123">
                <a:solidFill>
                  <a:srgbClr val="0B4B49"/>
                </a:solidFill>
                <a:latin typeface="Poppins"/>
                <a:ea typeface="Poppins"/>
                <a:cs typeface="Poppins"/>
                <a:sym typeface="Poppins"/>
              </a:rPr>
              <a:t>How do sleep and screen time influence productivity?</a:t>
            </a:r>
          </a:p>
        </p:txBody>
      </p:sp>
      <p:grpSp>
        <p:nvGrpSpPr>
          <p:cNvPr name="Group 4" id="4"/>
          <p:cNvGrpSpPr/>
          <p:nvPr/>
        </p:nvGrpSpPr>
        <p:grpSpPr>
          <a:xfrm rot="0">
            <a:off x="-275318" y="8970646"/>
            <a:ext cx="19119348" cy="1316354"/>
            <a:chOff x="0" y="0"/>
            <a:chExt cx="5035548" cy="346694"/>
          </a:xfrm>
        </p:grpSpPr>
        <p:sp>
          <p:nvSpPr>
            <p:cNvPr name="Freeform 5" id="5"/>
            <p:cNvSpPr/>
            <p:nvPr/>
          </p:nvSpPr>
          <p:spPr>
            <a:xfrm flipH="false" flipV="false" rot="0">
              <a:off x="0" y="0"/>
              <a:ext cx="5035548" cy="346694"/>
            </a:xfrm>
            <a:custGeom>
              <a:avLst/>
              <a:gdLst/>
              <a:ahLst/>
              <a:cxnLst/>
              <a:rect r="r" b="b" t="t" l="l"/>
              <a:pathLst>
                <a:path h="346694" w="5035548">
                  <a:moveTo>
                    <a:pt x="0" y="0"/>
                  </a:moveTo>
                  <a:lnTo>
                    <a:pt x="5035548" y="0"/>
                  </a:lnTo>
                  <a:lnTo>
                    <a:pt x="5035548" y="346694"/>
                  </a:lnTo>
                  <a:lnTo>
                    <a:pt x="0" y="346694"/>
                  </a:lnTo>
                  <a:close/>
                </a:path>
              </a:pathLst>
            </a:custGeom>
            <a:solidFill>
              <a:srgbClr val="80BFAC"/>
            </a:solidFill>
          </p:spPr>
        </p:sp>
        <p:sp>
          <p:nvSpPr>
            <p:cNvPr name="TextBox 6" id="6"/>
            <p:cNvSpPr txBox="true"/>
            <p:nvPr/>
          </p:nvSpPr>
          <p:spPr>
            <a:xfrm>
              <a:off x="0" y="0"/>
              <a:ext cx="5035548" cy="346694"/>
            </a:xfrm>
            <a:prstGeom prst="rect">
              <a:avLst/>
            </a:prstGeom>
          </p:spPr>
          <p:txBody>
            <a:bodyPr anchor="ctr" rtlCol="false" tIns="50800" lIns="50800" bIns="50800" rIns="50800"/>
            <a:lstStyle/>
            <a:p>
              <a:pPr algn="ctr">
                <a:lnSpc>
                  <a:spcPts val="2729"/>
                </a:lnSpc>
              </a:pPr>
            </a:p>
          </p:txBody>
        </p:sp>
      </p:grpSp>
      <p:sp>
        <p:nvSpPr>
          <p:cNvPr name="TextBox 7" id="7"/>
          <p:cNvSpPr txBox="true"/>
          <p:nvPr/>
        </p:nvSpPr>
        <p:spPr>
          <a:xfrm rot="0">
            <a:off x="1028700" y="9264797"/>
            <a:ext cx="11328257" cy="728053"/>
          </a:xfrm>
          <a:prstGeom prst="rect">
            <a:avLst/>
          </a:prstGeom>
        </p:spPr>
        <p:txBody>
          <a:bodyPr anchor="t" rtlCol="false" tIns="0" lIns="0" bIns="0" rIns="0">
            <a:spAutoFit/>
          </a:bodyPr>
          <a:lstStyle/>
          <a:p>
            <a:pPr algn="l">
              <a:lnSpc>
                <a:spcPts val="2729"/>
              </a:lnSpc>
            </a:pPr>
            <a:r>
              <a:rPr lang="en-US" sz="2551" b="true">
                <a:solidFill>
                  <a:srgbClr val="FFFFFF"/>
                </a:solidFill>
                <a:latin typeface="Poppins Semi-Bold"/>
                <a:ea typeface="Poppins Semi-Bold"/>
                <a:cs typeface="Poppins Semi-Bold"/>
                <a:sym typeface="Poppins Semi-Bold"/>
              </a:rPr>
              <a:t>A Self-Tracked Analysis of Late-Night Resistance Training and Daily Productivity: The Role of Intensity and Behavioral Factors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134222" y="923925"/>
            <a:ext cx="6019556" cy="1238365"/>
          </a:xfrm>
          <a:prstGeom prst="rect">
            <a:avLst/>
          </a:prstGeom>
        </p:spPr>
        <p:txBody>
          <a:bodyPr anchor="t" rtlCol="false" tIns="0" lIns="0" bIns="0" rIns="0">
            <a:spAutoFit/>
          </a:bodyPr>
          <a:lstStyle/>
          <a:p>
            <a:pPr algn="l">
              <a:lnSpc>
                <a:spcPts val="9339"/>
              </a:lnSpc>
            </a:pPr>
            <a:r>
              <a:rPr lang="en-US" sz="7471" b="true">
                <a:solidFill>
                  <a:srgbClr val="0B4B49"/>
                </a:solidFill>
                <a:latin typeface="Poppins Bold"/>
                <a:ea typeface="Poppins Bold"/>
                <a:cs typeface="Poppins Bold"/>
                <a:sym typeface="Poppins Bold"/>
              </a:rPr>
              <a:t>OBJECTIVES</a:t>
            </a:r>
          </a:p>
        </p:txBody>
      </p:sp>
      <p:sp>
        <p:nvSpPr>
          <p:cNvPr name="TextBox 3" id="3"/>
          <p:cNvSpPr txBox="true"/>
          <p:nvPr/>
        </p:nvSpPr>
        <p:spPr>
          <a:xfrm rot="0">
            <a:off x="4510869" y="3617646"/>
            <a:ext cx="9266263" cy="2937408"/>
          </a:xfrm>
          <a:prstGeom prst="rect">
            <a:avLst/>
          </a:prstGeom>
        </p:spPr>
        <p:txBody>
          <a:bodyPr anchor="t" rtlCol="false" tIns="0" lIns="0" bIns="0" rIns="0">
            <a:spAutoFit/>
          </a:bodyPr>
          <a:lstStyle/>
          <a:p>
            <a:pPr algn="just" marL="890290" indent="-445145" lvl="1">
              <a:lnSpc>
                <a:spcPts val="5773"/>
              </a:lnSpc>
              <a:buFont typeface="Arial"/>
              <a:buChar char="•"/>
            </a:pPr>
            <a:r>
              <a:rPr lang="en-US" sz="4123">
                <a:solidFill>
                  <a:srgbClr val="0B4B49"/>
                </a:solidFill>
                <a:latin typeface="Poppins"/>
                <a:ea typeface="Poppins"/>
                <a:cs typeface="Poppins"/>
                <a:sym typeface="Poppins"/>
              </a:rPr>
              <a:t>Collect 60-day dataset.</a:t>
            </a:r>
          </a:p>
          <a:p>
            <a:pPr algn="just" marL="890290" indent="-445145" lvl="1">
              <a:lnSpc>
                <a:spcPts val="5773"/>
              </a:lnSpc>
              <a:buFont typeface="Arial"/>
              <a:buChar char="•"/>
            </a:pPr>
            <a:r>
              <a:rPr lang="en-US" sz="4123">
                <a:solidFill>
                  <a:srgbClr val="0B4B49"/>
                </a:solidFill>
                <a:latin typeface="Poppins"/>
                <a:ea typeface="Poppins"/>
                <a:cs typeface="Poppins"/>
                <a:sym typeface="Poppins"/>
              </a:rPr>
              <a:t>Analyze relationships.</a:t>
            </a:r>
          </a:p>
          <a:p>
            <a:pPr algn="just" marL="890290" indent="-445145" lvl="1">
              <a:lnSpc>
                <a:spcPts val="5773"/>
              </a:lnSpc>
              <a:buFont typeface="Arial"/>
              <a:buChar char="•"/>
            </a:pPr>
            <a:r>
              <a:rPr lang="en-US" sz="4123">
                <a:solidFill>
                  <a:srgbClr val="0B4B49"/>
                </a:solidFill>
                <a:latin typeface="Poppins"/>
                <a:ea typeface="Poppins"/>
                <a:cs typeface="Poppins"/>
                <a:sym typeface="Poppins"/>
              </a:rPr>
              <a:t>Compare workout vs rest</a:t>
            </a:r>
          </a:p>
          <a:p>
            <a:pPr algn="just" marL="890290" indent="-445145" lvl="1">
              <a:lnSpc>
                <a:spcPts val="5773"/>
              </a:lnSpc>
              <a:buFont typeface="Arial"/>
              <a:buChar char="•"/>
            </a:pPr>
            <a:r>
              <a:rPr lang="en-US" sz="4123">
                <a:solidFill>
                  <a:srgbClr val="0B4B49"/>
                </a:solidFill>
                <a:latin typeface="Poppins"/>
                <a:ea typeface="Poppins"/>
                <a:cs typeface="Poppins"/>
                <a:sym typeface="Poppins"/>
              </a:rPr>
              <a:t>Model predictors via regression</a:t>
            </a:r>
          </a:p>
        </p:txBody>
      </p:sp>
      <p:grpSp>
        <p:nvGrpSpPr>
          <p:cNvPr name="Group 4" id="4"/>
          <p:cNvGrpSpPr/>
          <p:nvPr/>
        </p:nvGrpSpPr>
        <p:grpSpPr>
          <a:xfrm rot="0">
            <a:off x="-275318" y="8970646"/>
            <a:ext cx="19119348" cy="1316354"/>
            <a:chOff x="0" y="0"/>
            <a:chExt cx="5035548" cy="346694"/>
          </a:xfrm>
        </p:grpSpPr>
        <p:sp>
          <p:nvSpPr>
            <p:cNvPr name="Freeform 5" id="5"/>
            <p:cNvSpPr/>
            <p:nvPr/>
          </p:nvSpPr>
          <p:spPr>
            <a:xfrm flipH="false" flipV="false" rot="0">
              <a:off x="0" y="0"/>
              <a:ext cx="5035548" cy="346694"/>
            </a:xfrm>
            <a:custGeom>
              <a:avLst/>
              <a:gdLst/>
              <a:ahLst/>
              <a:cxnLst/>
              <a:rect r="r" b="b" t="t" l="l"/>
              <a:pathLst>
                <a:path h="346694" w="5035548">
                  <a:moveTo>
                    <a:pt x="0" y="0"/>
                  </a:moveTo>
                  <a:lnTo>
                    <a:pt x="5035548" y="0"/>
                  </a:lnTo>
                  <a:lnTo>
                    <a:pt x="5035548" y="346694"/>
                  </a:lnTo>
                  <a:lnTo>
                    <a:pt x="0" y="346694"/>
                  </a:lnTo>
                  <a:close/>
                </a:path>
              </a:pathLst>
            </a:custGeom>
            <a:solidFill>
              <a:srgbClr val="80BFAC"/>
            </a:solidFill>
          </p:spPr>
        </p:sp>
        <p:sp>
          <p:nvSpPr>
            <p:cNvPr name="TextBox 6" id="6"/>
            <p:cNvSpPr txBox="true"/>
            <p:nvPr/>
          </p:nvSpPr>
          <p:spPr>
            <a:xfrm>
              <a:off x="0" y="0"/>
              <a:ext cx="5035548" cy="346694"/>
            </a:xfrm>
            <a:prstGeom prst="rect">
              <a:avLst/>
            </a:prstGeom>
          </p:spPr>
          <p:txBody>
            <a:bodyPr anchor="ctr" rtlCol="false" tIns="50800" lIns="50800" bIns="50800" rIns="50800"/>
            <a:lstStyle/>
            <a:p>
              <a:pPr algn="ctr">
                <a:lnSpc>
                  <a:spcPts val="2729"/>
                </a:lnSpc>
              </a:pPr>
            </a:p>
          </p:txBody>
        </p:sp>
      </p:grpSp>
      <p:sp>
        <p:nvSpPr>
          <p:cNvPr name="TextBox 7" id="7"/>
          <p:cNvSpPr txBox="true"/>
          <p:nvPr/>
        </p:nvSpPr>
        <p:spPr>
          <a:xfrm rot="0">
            <a:off x="1028700" y="9264797"/>
            <a:ext cx="11328257" cy="728053"/>
          </a:xfrm>
          <a:prstGeom prst="rect">
            <a:avLst/>
          </a:prstGeom>
        </p:spPr>
        <p:txBody>
          <a:bodyPr anchor="t" rtlCol="false" tIns="0" lIns="0" bIns="0" rIns="0">
            <a:spAutoFit/>
          </a:bodyPr>
          <a:lstStyle/>
          <a:p>
            <a:pPr algn="l">
              <a:lnSpc>
                <a:spcPts val="2729"/>
              </a:lnSpc>
            </a:pPr>
            <a:r>
              <a:rPr lang="en-US" sz="2551" b="true">
                <a:solidFill>
                  <a:srgbClr val="FFFFFF"/>
                </a:solidFill>
                <a:latin typeface="Poppins Semi-Bold"/>
                <a:ea typeface="Poppins Semi-Bold"/>
                <a:cs typeface="Poppins Semi-Bold"/>
                <a:sym typeface="Poppins Semi-Bold"/>
              </a:rPr>
              <a:t>A Self-Tracked Analysis of Late-Night Resistance Training and Daily Productivity: The Role of Intensity and Behavioral Factors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989819" y="923925"/>
            <a:ext cx="6308363" cy="1238365"/>
          </a:xfrm>
          <a:prstGeom prst="rect">
            <a:avLst/>
          </a:prstGeom>
        </p:spPr>
        <p:txBody>
          <a:bodyPr anchor="t" rtlCol="false" tIns="0" lIns="0" bIns="0" rIns="0">
            <a:spAutoFit/>
          </a:bodyPr>
          <a:lstStyle/>
          <a:p>
            <a:pPr algn="l">
              <a:lnSpc>
                <a:spcPts val="9339"/>
              </a:lnSpc>
            </a:pPr>
            <a:r>
              <a:rPr lang="en-US" sz="7471" b="true">
                <a:solidFill>
                  <a:srgbClr val="0B4B49"/>
                </a:solidFill>
                <a:latin typeface="Poppins Bold"/>
                <a:ea typeface="Poppins Bold"/>
                <a:cs typeface="Poppins Bold"/>
                <a:sym typeface="Poppins Bold"/>
              </a:rPr>
              <a:t>HYPOTHESES</a:t>
            </a:r>
          </a:p>
        </p:txBody>
      </p:sp>
      <p:grpSp>
        <p:nvGrpSpPr>
          <p:cNvPr name="Group 3" id="3"/>
          <p:cNvGrpSpPr/>
          <p:nvPr/>
        </p:nvGrpSpPr>
        <p:grpSpPr>
          <a:xfrm rot="0">
            <a:off x="9340785" y="2971733"/>
            <a:ext cx="8682153" cy="1711720"/>
            <a:chOff x="0" y="0"/>
            <a:chExt cx="1860427" cy="366790"/>
          </a:xfrm>
        </p:grpSpPr>
        <p:sp>
          <p:nvSpPr>
            <p:cNvPr name="Freeform 4" id="4"/>
            <p:cNvSpPr/>
            <p:nvPr/>
          </p:nvSpPr>
          <p:spPr>
            <a:xfrm flipH="false" flipV="false" rot="0">
              <a:off x="0" y="0"/>
              <a:ext cx="1860427" cy="366790"/>
            </a:xfrm>
            <a:custGeom>
              <a:avLst/>
              <a:gdLst/>
              <a:ahLst/>
              <a:cxnLst/>
              <a:rect r="r" b="b" t="t" l="l"/>
              <a:pathLst>
                <a:path h="366790" w="1860427">
                  <a:moveTo>
                    <a:pt x="0" y="0"/>
                  </a:moveTo>
                  <a:lnTo>
                    <a:pt x="1860427" y="0"/>
                  </a:lnTo>
                  <a:lnTo>
                    <a:pt x="1860427" y="366790"/>
                  </a:lnTo>
                  <a:lnTo>
                    <a:pt x="0" y="366790"/>
                  </a:lnTo>
                  <a:close/>
                </a:path>
              </a:pathLst>
            </a:custGeom>
            <a:solidFill>
              <a:srgbClr val="80BFAC"/>
            </a:solidFill>
          </p:spPr>
        </p:sp>
        <p:sp>
          <p:nvSpPr>
            <p:cNvPr name="TextBox 5" id="5"/>
            <p:cNvSpPr txBox="true"/>
            <p:nvPr/>
          </p:nvSpPr>
          <p:spPr>
            <a:xfrm>
              <a:off x="0" y="0"/>
              <a:ext cx="1860427" cy="366790"/>
            </a:xfrm>
            <a:prstGeom prst="rect">
              <a:avLst/>
            </a:prstGeom>
          </p:spPr>
          <p:txBody>
            <a:bodyPr anchor="ctr" rtlCol="false" tIns="50800" lIns="50800" bIns="50800" rIns="50800"/>
            <a:lstStyle/>
            <a:p>
              <a:pPr algn="ctr">
                <a:lnSpc>
                  <a:spcPts val="2729"/>
                </a:lnSpc>
              </a:pPr>
            </a:p>
          </p:txBody>
        </p:sp>
      </p:grpSp>
      <p:sp>
        <p:nvSpPr>
          <p:cNvPr name="TextBox 6" id="6"/>
          <p:cNvSpPr txBox="true"/>
          <p:nvPr/>
        </p:nvSpPr>
        <p:spPr>
          <a:xfrm rot="0">
            <a:off x="6218742" y="2212126"/>
            <a:ext cx="6226188" cy="592989"/>
          </a:xfrm>
          <a:prstGeom prst="rect">
            <a:avLst/>
          </a:prstGeom>
        </p:spPr>
        <p:txBody>
          <a:bodyPr anchor="t" rtlCol="false" tIns="0" lIns="0" bIns="0" rIns="0">
            <a:spAutoFit/>
          </a:bodyPr>
          <a:lstStyle/>
          <a:p>
            <a:pPr algn="just" marL="720020" indent="-360010" lvl="1">
              <a:lnSpc>
                <a:spcPts val="4668"/>
              </a:lnSpc>
              <a:buFont typeface="Arial"/>
              <a:buChar char="•"/>
            </a:pPr>
            <a:r>
              <a:rPr lang="en-US" sz="3334">
                <a:solidFill>
                  <a:srgbClr val="0B4B49"/>
                </a:solidFill>
                <a:latin typeface="Poppins"/>
                <a:ea typeface="Poppins"/>
                <a:cs typeface="Poppins"/>
                <a:sym typeface="Poppins"/>
              </a:rPr>
              <a:t>CORRELATION HYPOTHESES</a:t>
            </a:r>
          </a:p>
        </p:txBody>
      </p:sp>
      <p:grpSp>
        <p:nvGrpSpPr>
          <p:cNvPr name="Group 7" id="7"/>
          <p:cNvGrpSpPr/>
          <p:nvPr/>
        </p:nvGrpSpPr>
        <p:grpSpPr>
          <a:xfrm rot="0">
            <a:off x="-275318" y="8970646"/>
            <a:ext cx="19119348" cy="1316354"/>
            <a:chOff x="0" y="0"/>
            <a:chExt cx="5035548" cy="346694"/>
          </a:xfrm>
        </p:grpSpPr>
        <p:sp>
          <p:nvSpPr>
            <p:cNvPr name="Freeform 8" id="8"/>
            <p:cNvSpPr/>
            <p:nvPr/>
          </p:nvSpPr>
          <p:spPr>
            <a:xfrm flipH="false" flipV="false" rot="0">
              <a:off x="0" y="0"/>
              <a:ext cx="5035548" cy="346694"/>
            </a:xfrm>
            <a:custGeom>
              <a:avLst/>
              <a:gdLst/>
              <a:ahLst/>
              <a:cxnLst/>
              <a:rect r="r" b="b" t="t" l="l"/>
              <a:pathLst>
                <a:path h="346694" w="5035548">
                  <a:moveTo>
                    <a:pt x="0" y="0"/>
                  </a:moveTo>
                  <a:lnTo>
                    <a:pt x="5035548" y="0"/>
                  </a:lnTo>
                  <a:lnTo>
                    <a:pt x="5035548" y="346694"/>
                  </a:lnTo>
                  <a:lnTo>
                    <a:pt x="0" y="346694"/>
                  </a:lnTo>
                  <a:close/>
                </a:path>
              </a:pathLst>
            </a:custGeom>
            <a:solidFill>
              <a:srgbClr val="80BFAC"/>
            </a:solidFill>
          </p:spPr>
        </p:sp>
        <p:sp>
          <p:nvSpPr>
            <p:cNvPr name="TextBox 9" id="9"/>
            <p:cNvSpPr txBox="true"/>
            <p:nvPr/>
          </p:nvSpPr>
          <p:spPr>
            <a:xfrm>
              <a:off x="0" y="0"/>
              <a:ext cx="5035548" cy="346694"/>
            </a:xfrm>
            <a:prstGeom prst="rect">
              <a:avLst/>
            </a:prstGeom>
          </p:spPr>
          <p:txBody>
            <a:bodyPr anchor="ctr" rtlCol="false" tIns="50800" lIns="50800" bIns="50800" rIns="50800"/>
            <a:lstStyle/>
            <a:p>
              <a:pPr algn="ctr">
                <a:lnSpc>
                  <a:spcPts val="2729"/>
                </a:lnSpc>
              </a:pPr>
            </a:p>
          </p:txBody>
        </p:sp>
      </p:grpSp>
      <p:sp>
        <p:nvSpPr>
          <p:cNvPr name="TextBox 10" id="10"/>
          <p:cNvSpPr txBox="true"/>
          <p:nvPr/>
        </p:nvSpPr>
        <p:spPr>
          <a:xfrm rot="0">
            <a:off x="1028700" y="9264797"/>
            <a:ext cx="11328257" cy="728053"/>
          </a:xfrm>
          <a:prstGeom prst="rect">
            <a:avLst/>
          </a:prstGeom>
        </p:spPr>
        <p:txBody>
          <a:bodyPr anchor="t" rtlCol="false" tIns="0" lIns="0" bIns="0" rIns="0">
            <a:spAutoFit/>
          </a:bodyPr>
          <a:lstStyle/>
          <a:p>
            <a:pPr algn="l">
              <a:lnSpc>
                <a:spcPts val="2729"/>
              </a:lnSpc>
            </a:pPr>
            <a:r>
              <a:rPr lang="en-US" sz="2551" b="true">
                <a:solidFill>
                  <a:srgbClr val="FFFFFF"/>
                </a:solidFill>
                <a:latin typeface="Poppins Semi-Bold"/>
                <a:ea typeface="Poppins Semi-Bold"/>
                <a:cs typeface="Poppins Semi-Bold"/>
                <a:sym typeface="Poppins Semi-Bold"/>
              </a:rPr>
              <a:t>A Self-Tracked Analysis of Late-Night Resistance Training and Daily Productivity: The Role of Intensity and Behavioral Factors</a:t>
            </a:r>
          </a:p>
        </p:txBody>
      </p:sp>
      <p:grpSp>
        <p:nvGrpSpPr>
          <p:cNvPr name="Group 11" id="11"/>
          <p:cNvGrpSpPr/>
          <p:nvPr/>
        </p:nvGrpSpPr>
        <p:grpSpPr>
          <a:xfrm rot="0">
            <a:off x="266525" y="2971733"/>
            <a:ext cx="8331061" cy="1711720"/>
            <a:chOff x="0" y="0"/>
            <a:chExt cx="1785195" cy="366790"/>
          </a:xfrm>
        </p:grpSpPr>
        <p:sp>
          <p:nvSpPr>
            <p:cNvPr name="Freeform 12" id="12"/>
            <p:cNvSpPr/>
            <p:nvPr/>
          </p:nvSpPr>
          <p:spPr>
            <a:xfrm flipH="false" flipV="false" rot="0">
              <a:off x="0" y="0"/>
              <a:ext cx="1785195" cy="366790"/>
            </a:xfrm>
            <a:custGeom>
              <a:avLst/>
              <a:gdLst/>
              <a:ahLst/>
              <a:cxnLst/>
              <a:rect r="r" b="b" t="t" l="l"/>
              <a:pathLst>
                <a:path h="366790" w="1785195">
                  <a:moveTo>
                    <a:pt x="0" y="0"/>
                  </a:moveTo>
                  <a:lnTo>
                    <a:pt x="1785195" y="0"/>
                  </a:lnTo>
                  <a:lnTo>
                    <a:pt x="1785195" y="366790"/>
                  </a:lnTo>
                  <a:lnTo>
                    <a:pt x="0" y="366790"/>
                  </a:lnTo>
                  <a:close/>
                </a:path>
              </a:pathLst>
            </a:custGeom>
            <a:solidFill>
              <a:srgbClr val="80BFAC"/>
            </a:solidFill>
          </p:spPr>
        </p:sp>
        <p:sp>
          <p:nvSpPr>
            <p:cNvPr name="TextBox 13" id="13"/>
            <p:cNvSpPr txBox="true"/>
            <p:nvPr/>
          </p:nvSpPr>
          <p:spPr>
            <a:xfrm>
              <a:off x="0" y="0"/>
              <a:ext cx="1785195" cy="366790"/>
            </a:xfrm>
            <a:prstGeom prst="rect">
              <a:avLst/>
            </a:prstGeom>
          </p:spPr>
          <p:txBody>
            <a:bodyPr anchor="ctr" rtlCol="false" tIns="50800" lIns="50800" bIns="50800" rIns="50800"/>
            <a:lstStyle/>
            <a:p>
              <a:pPr algn="ctr">
                <a:lnSpc>
                  <a:spcPts val="2729"/>
                </a:lnSpc>
              </a:pPr>
            </a:p>
          </p:txBody>
        </p:sp>
      </p:grpSp>
      <p:sp>
        <p:nvSpPr>
          <p:cNvPr name="TextBox 14" id="14"/>
          <p:cNvSpPr txBox="true"/>
          <p:nvPr/>
        </p:nvSpPr>
        <p:spPr>
          <a:xfrm rot="0">
            <a:off x="544753" y="3096547"/>
            <a:ext cx="7962390" cy="1453532"/>
          </a:xfrm>
          <a:prstGeom prst="rect">
            <a:avLst/>
          </a:prstGeom>
        </p:spPr>
        <p:txBody>
          <a:bodyPr anchor="t" rtlCol="false" tIns="0" lIns="0" bIns="0" rIns="0">
            <a:spAutoFit/>
          </a:bodyPr>
          <a:lstStyle/>
          <a:p>
            <a:pPr algn="ctr">
              <a:lnSpc>
                <a:spcPts val="2871"/>
              </a:lnSpc>
            </a:pPr>
            <a:r>
              <a:rPr lang="en-US" sz="2051">
                <a:solidFill>
                  <a:srgbClr val="0B4B49"/>
                </a:solidFill>
                <a:latin typeface="Poppins"/>
                <a:ea typeface="Poppins"/>
                <a:cs typeface="Poppins"/>
                <a:sym typeface="Poppins"/>
              </a:rPr>
              <a:t>Null Hypothesis</a:t>
            </a:r>
          </a:p>
          <a:p>
            <a:pPr algn="l">
              <a:lnSpc>
                <a:spcPts val="2871"/>
              </a:lnSpc>
            </a:pPr>
            <a:r>
              <a:rPr lang="en-US" sz="2051">
                <a:solidFill>
                  <a:srgbClr val="0B4B49"/>
                </a:solidFill>
                <a:latin typeface="Poppins"/>
                <a:ea typeface="Poppins"/>
                <a:cs typeface="Poppins"/>
                <a:sym typeface="Poppins"/>
              </a:rPr>
              <a:t>There is no significant linear relationship between perceived workout intensity, sleep duration, screen time, and next-day productivity (r = 0). </a:t>
            </a:r>
          </a:p>
        </p:txBody>
      </p:sp>
      <p:sp>
        <p:nvSpPr>
          <p:cNvPr name="TextBox 15" id="15"/>
          <p:cNvSpPr txBox="true"/>
          <p:nvPr/>
        </p:nvSpPr>
        <p:spPr>
          <a:xfrm rot="0">
            <a:off x="9497187" y="3093931"/>
            <a:ext cx="8287009" cy="1457033"/>
          </a:xfrm>
          <a:prstGeom prst="rect">
            <a:avLst/>
          </a:prstGeom>
        </p:spPr>
        <p:txBody>
          <a:bodyPr anchor="t" rtlCol="false" tIns="0" lIns="0" bIns="0" rIns="0">
            <a:spAutoFit/>
          </a:bodyPr>
          <a:lstStyle/>
          <a:p>
            <a:pPr algn="ctr">
              <a:lnSpc>
                <a:spcPts val="2873"/>
              </a:lnSpc>
            </a:pPr>
            <a:r>
              <a:rPr lang="en-US" sz="2052">
                <a:solidFill>
                  <a:srgbClr val="0B4B49"/>
                </a:solidFill>
                <a:latin typeface="Poppins"/>
                <a:ea typeface="Poppins"/>
                <a:cs typeface="Poppins"/>
                <a:sym typeface="Poppins"/>
              </a:rPr>
              <a:t>Alternative Hypothesis</a:t>
            </a:r>
          </a:p>
          <a:p>
            <a:pPr algn="just">
              <a:lnSpc>
                <a:spcPts val="2873"/>
              </a:lnSpc>
            </a:pPr>
            <a:r>
              <a:rPr lang="en-US" sz="2052">
                <a:solidFill>
                  <a:srgbClr val="0B4B49"/>
                </a:solidFill>
                <a:latin typeface="Poppins"/>
                <a:ea typeface="Poppins"/>
                <a:cs typeface="Poppins"/>
                <a:sym typeface="Poppins"/>
              </a:rPr>
              <a:t>At least one variable (perceived intensity, sleep duration, or screen time) has a significant linear relationship with next-day productivity (r ̸= 0).</a:t>
            </a:r>
          </a:p>
        </p:txBody>
      </p:sp>
      <p:grpSp>
        <p:nvGrpSpPr>
          <p:cNvPr name="Group 16" id="16"/>
          <p:cNvGrpSpPr/>
          <p:nvPr/>
        </p:nvGrpSpPr>
        <p:grpSpPr>
          <a:xfrm rot="0">
            <a:off x="9340785" y="6128329"/>
            <a:ext cx="8682153" cy="1636050"/>
            <a:chOff x="0" y="0"/>
            <a:chExt cx="1705276" cy="321339"/>
          </a:xfrm>
        </p:grpSpPr>
        <p:sp>
          <p:nvSpPr>
            <p:cNvPr name="Freeform 17" id="17"/>
            <p:cNvSpPr/>
            <p:nvPr/>
          </p:nvSpPr>
          <p:spPr>
            <a:xfrm flipH="false" flipV="false" rot="0">
              <a:off x="0" y="0"/>
              <a:ext cx="1705276" cy="321339"/>
            </a:xfrm>
            <a:custGeom>
              <a:avLst/>
              <a:gdLst/>
              <a:ahLst/>
              <a:cxnLst/>
              <a:rect r="r" b="b" t="t" l="l"/>
              <a:pathLst>
                <a:path h="321339" w="1705276">
                  <a:moveTo>
                    <a:pt x="0" y="0"/>
                  </a:moveTo>
                  <a:lnTo>
                    <a:pt x="1705276" y="0"/>
                  </a:lnTo>
                  <a:lnTo>
                    <a:pt x="1705276" y="321339"/>
                  </a:lnTo>
                  <a:lnTo>
                    <a:pt x="0" y="321339"/>
                  </a:lnTo>
                  <a:close/>
                </a:path>
              </a:pathLst>
            </a:custGeom>
            <a:solidFill>
              <a:srgbClr val="80BFAC"/>
            </a:solidFill>
          </p:spPr>
        </p:sp>
        <p:sp>
          <p:nvSpPr>
            <p:cNvPr name="TextBox 18" id="18"/>
            <p:cNvSpPr txBox="true"/>
            <p:nvPr/>
          </p:nvSpPr>
          <p:spPr>
            <a:xfrm>
              <a:off x="0" y="0"/>
              <a:ext cx="1705276" cy="321339"/>
            </a:xfrm>
            <a:prstGeom prst="rect">
              <a:avLst/>
            </a:prstGeom>
          </p:spPr>
          <p:txBody>
            <a:bodyPr anchor="ctr" rtlCol="false" tIns="50800" lIns="50800" bIns="50800" rIns="50800"/>
            <a:lstStyle/>
            <a:p>
              <a:pPr algn="ctr">
                <a:lnSpc>
                  <a:spcPts val="2729"/>
                </a:lnSpc>
              </a:pPr>
            </a:p>
          </p:txBody>
        </p:sp>
      </p:grpSp>
      <p:sp>
        <p:nvSpPr>
          <p:cNvPr name="TextBox 19" id="19"/>
          <p:cNvSpPr txBox="true"/>
          <p:nvPr/>
        </p:nvSpPr>
        <p:spPr>
          <a:xfrm rot="0">
            <a:off x="2420405" y="5365433"/>
            <a:ext cx="13447189" cy="600972"/>
          </a:xfrm>
          <a:prstGeom prst="rect">
            <a:avLst/>
          </a:prstGeom>
        </p:spPr>
        <p:txBody>
          <a:bodyPr anchor="t" rtlCol="false" tIns="0" lIns="0" bIns="0" rIns="0">
            <a:spAutoFit/>
          </a:bodyPr>
          <a:lstStyle/>
          <a:p>
            <a:pPr algn="just" marL="720759" indent="-360379" lvl="1">
              <a:lnSpc>
                <a:spcPts val="4673"/>
              </a:lnSpc>
              <a:buFont typeface="Arial"/>
              <a:buChar char="•"/>
            </a:pPr>
            <a:r>
              <a:rPr lang="en-US" sz="3338">
                <a:solidFill>
                  <a:srgbClr val="0B4B49"/>
                </a:solidFill>
                <a:latin typeface="Poppins"/>
                <a:ea typeface="Poppins"/>
                <a:cs typeface="Poppins"/>
                <a:sym typeface="Poppins"/>
              </a:rPr>
              <a:t>WORKOUT PARTICIPATION HYPOTHESES (Independent T-test)</a:t>
            </a:r>
          </a:p>
        </p:txBody>
      </p:sp>
      <p:grpSp>
        <p:nvGrpSpPr>
          <p:cNvPr name="Group 20" id="20"/>
          <p:cNvGrpSpPr/>
          <p:nvPr/>
        </p:nvGrpSpPr>
        <p:grpSpPr>
          <a:xfrm rot="0">
            <a:off x="266525" y="6128329"/>
            <a:ext cx="8331061" cy="1636050"/>
            <a:chOff x="0" y="0"/>
            <a:chExt cx="1636318" cy="321339"/>
          </a:xfrm>
        </p:grpSpPr>
        <p:sp>
          <p:nvSpPr>
            <p:cNvPr name="Freeform 21" id="21"/>
            <p:cNvSpPr/>
            <p:nvPr/>
          </p:nvSpPr>
          <p:spPr>
            <a:xfrm flipH="false" flipV="false" rot="0">
              <a:off x="0" y="0"/>
              <a:ext cx="1636318" cy="321339"/>
            </a:xfrm>
            <a:custGeom>
              <a:avLst/>
              <a:gdLst/>
              <a:ahLst/>
              <a:cxnLst/>
              <a:rect r="r" b="b" t="t" l="l"/>
              <a:pathLst>
                <a:path h="321339" w="1636318">
                  <a:moveTo>
                    <a:pt x="0" y="0"/>
                  </a:moveTo>
                  <a:lnTo>
                    <a:pt x="1636318" y="0"/>
                  </a:lnTo>
                  <a:lnTo>
                    <a:pt x="1636318" y="321339"/>
                  </a:lnTo>
                  <a:lnTo>
                    <a:pt x="0" y="321339"/>
                  </a:lnTo>
                  <a:close/>
                </a:path>
              </a:pathLst>
            </a:custGeom>
            <a:solidFill>
              <a:srgbClr val="80BFAC"/>
            </a:solidFill>
          </p:spPr>
        </p:sp>
        <p:sp>
          <p:nvSpPr>
            <p:cNvPr name="TextBox 22" id="22"/>
            <p:cNvSpPr txBox="true"/>
            <p:nvPr/>
          </p:nvSpPr>
          <p:spPr>
            <a:xfrm>
              <a:off x="0" y="0"/>
              <a:ext cx="1636318" cy="321339"/>
            </a:xfrm>
            <a:prstGeom prst="rect">
              <a:avLst/>
            </a:prstGeom>
          </p:spPr>
          <p:txBody>
            <a:bodyPr anchor="ctr" rtlCol="false" tIns="50800" lIns="50800" bIns="50800" rIns="50800"/>
            <a:lstStyle/>
            <a:p>
              <a:pPr algn="ctr">
                <a:lnSpc>
                  <a:spcPts val="2729"/>
                </a:lnSpc>
              </a:pPr>
            </a:p>
          </p:txBody>
        </p:sp>
      </p:grpSp>
      <p:sp>
        <p:nvSpPr>
          <p:cNvPr name="TextBox 23" id="23"/>
          <p:cNvSpPr txBox="true"/>
          <p:nvPr/>
        </p:nvSpPr>
        <p:spPr>
          <a:xfrm rot="0">
            <a:off x="645485" y="6325023"/>
            <a:ext cx="7573140" cy="1091339"/>
          </a:xfrm>
          <a:prstGeom prst="rect">
            <a:avLst/>
          </a:prstGeom>
        </p:spPr>
        <p:txBody>
          <a:bodyPr anchor="t" rtlCol="false" tIns="0" lIns="0" bIns="0" rIns="0">
            <a:spAutoFit/>
          </a:bodyPr>
          <a:lstStyle/>
          <a:p>
            <a:pPr algn="ctr">
              <a:lnSpc>
                <a:spcPts val="2852"/>
              </a:lnSpc>
            </a:pPr>
            <a:r>
              <a:rPr lang="en-US" sz="2037">
                <a:solidFill>
                  <a:srgbClr val="0B4B49"/>
                </a:solidFill>
                <a:latin typeface="Poppins"/>
                <a:ea typeface="Poppins"/>
                <a:cs typeface="Poppins"/>
                <a:sym typeface="Poppins"/>
              </a:rPr>
              <a:t>Null Hypothesis</a:t>
            </a:r>
          </a:p>
          <a:p>
            <a:pPr algn="l">
              <a:lnSpc>
                <a:spcPts val="2852"/>
              </a:lnSpc>
            </a:pPr>
            <a:r>
              <a:rPr lang="en-US" sz="2037">
                <a:solidFill>
                  <a:srgbClr val="0B4B49"/>
                </a:solidFill>
                <a:latin typeface="Poppins"/>
                <a:ea typeface="Poppins"/>
                <a:cs typeface="Poppins"/>
                <a:sym typeface="Poppins"/>
              </a:rPr>
              <a:t>There is no significant difference in mean productivity between workout days and rest days </a:t>
            </a:r>
          </a:p>
        </p:txBody>
      </p:sp>
      <p:sp>
        <p:nvSpPr>
          <p:cNvPr name="TextBox 24" id="24"/>
          <p:cNvSpPr txBox="true"/>
          <p:nvPr/>
        </p:nvSpPr>
        <p:spPr>
          <a:xfrm rot="0">
            <a:off x="9497187" y="6252154"/>
            <a:ext cx="7881890" cy="1091299"/>
          </a:xfrm>
          <a:prstGeom prst="rect">
            <a:avLst/>
          </a:prstGeom>
        </p:spPr>
        <p:txBody>
          <a:bodyPr anchor="t" rtlCol="false" tIns="0" lIns="0" bIns="0" rIns="0">
            <a:spAutoFit/>
          </a:bodyPr>
          <a:lstStyle/>
          <a:p>
            <a:pPr algn="ctr">
              <a:lnSpc>
                <a:spcPts val="2855"/>
              </a:lnSpc>
            </a:pPr>
            <a:r>
              <a:rPr lang="en-US" sz="2039">
                <a:solidFill>
                  <a:srgbClr val="0B4B49"/>
                </a:solidFill>
                <a:latin typeface="Poppins"/>
                <a:ea typeface="Poppins"/>
                <a:cs typeface="Poppins"/>
                <a:sym typeface="Poppins"/>
              </a:rPr>
              <a:t>Alternative Hypothesis</a:t>
            </a:r>
          </a:p>
          <a:p>
            <a:pPr algn="just">
              <a:lnSpc>
                <a:spcPts val="2855"/>
              </a:lnSpc>
            </a:pPr>
            <a:r>
              <a:rPr lang="en-US" sz="2039">
                <a:solidFill>
                  <a:srgbClr val="0B4B49"/>
                </a:solidFill>
                <a:latin typeface="Poppins"/>
                <a:ea typeface="Poppins"/>
                <a:cs typeface="Poppins"/>
                <a:sym typeface="Poppins"/>
              </a:rPr>
              <a:t>Th</a:t>
            </a:r>
            <a:r>
              <a:rPr lang="en-US" sz="2039">
                <a:solidFill>
                  <a:srgbClr val="0B4B49"/>
                </a:solidFill>
                <a:latin typeface="Poppins"/>
                <a:ea typeface="Poppins"/>
                <a:cs typeface="Poppins"/>
                <a:sym typeface="Poppins"/>
              </a:rPr>
              <a:t>ere is a significant difference in mean productivity between workout days and rest days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5400000">
            <a:off x="6841973" y="-10060106"/>
            <a:ext cx="5517710" cy="19721358"/>
            <a:chOff x="0" y="0"/>
            <a:chExt cx="1453224" cy="5194103"/>
          </a:xfrm>
        </p:grpSpPr>
        <p:sp>
          <p:nvSpPr>
            <p:cNvPr name="Freeform 3" id="3"/>
            <p:cNvSpPr/>
            <p:nvPr/>
          </p:nvSpPr>
          <p:spPr>
            <a:xfrm flipH="false" flipV="false" rot="0">
              <a:off x="0" y="0"/>
              <a:ext cx="1453224" cy="5194103"/>
            </a:xfrm>
            <a:custGeom>
              <a:avLst/>
              <a:gdLst/>
              <a:ahLst/>
              <a:cxnLst/>
              <a:rect r="r" b="b" t="t" l="l"/>
              <a:pathLst>
                <a:path h="5194103" w="1453224">
                  <a:moveTo>
                    <a:pt x="0" y="0"/>
                  </a:moveTo>
                  <a:lnTo>
                    <a:pt x="1453224" y="0"/>
                  </a:lnTo>
                  <a:lnTo>
                    <a:pt x="1453224" y="5194103"/>
                  </a:lnTo>
                  <a:lnTo>
                    <a:pt x="0" y="5194103"/>
                  </a:lnTo>
                  <a:close/>
                </a:path>
              </a:pathLst>
            </a:custGeom>
            <a:solidFill>
              <a:srgbClr val="FFFFFF"/>
            </a:solidFill>
          </p:spPr>
        </p:sp>
        <p:sp>
          <p:nvSpPr>
            <p:cNvPr name="TextBox 4" id="4"/>
            <p:cNvSpPr txBox="true"/>
            <p:nvPr/>
          </p:nvSpPr>
          <p:spPr>
            <a:xfrm>
              <a:off x="0" y="0"/>
              <a:ext cx="1453224" cy="5194103"/>
            </a:xfrm>
            <a:prstGeom prst="rect">
              <a:avLst/>
            </a:prstGeom>
          </p:spPr>
          <p:txBody>
            <a:bodyPr anchor="ctr" rtlCol="false" tIns="50800" lIns="50800" bIns="50800" rIns="50800"/>
            <a:lstStyle/>
            <a:p>
              <a:pPr algn="ctr">
                <a:lnSpc>
                  <a:spcPts val="2729"/>
                </a:lnSpc>
              </a:pPr>
            </a:p>
          </p:txBody>
        </p:sp>
      </p:grpSp>
      <p:grpSp>
        <p:nvGrpSpPr>
          <p:cNvPr name="Group 5" id="5"/>
          <p:cNvGrpSpPr/>
          <p:nvPr/>
        </p:nvGrpSpPr>
        <p:grpSpPr>
          <a:xfrm rot="-5400000">
            <a:off x="9023919" y="-6689256"/>
            <a:ext cx="240163" cy="18497367"/>
            <a:chOff x="0" y="0"/>
            <a:chExt cx="63253" cy="4871735"/>
          </a:xfrm>
        </p:grpSpPr>
        <p:sp>
          <p:nvSpPr>
            <p:cNvPr name="Freeform 6" id="6"/>
            <p:cNvSpPr/>
            <p:nvPr/>
          </p:nvSpPr>
          <p:spPr>
            <a:xfrm flipH="false" flipV="false" rot="0">
              <a:off x="0" y="0"/>
              <a:ext cx="63253" cy="4871734"/>
            </a:xfrm>
            <a:custGeom>
              <a:avLst/>
              <a:gdLst/>
              <a:ahLst/>
              <a:cxnLst/>
              <a:rect r="r" b="b" t="t" l="l"/>
              <a:pathLst>
                <a:path h="4871734" w="63253">
                  <a:moveTo>
                    <a:pt x="0" y="0"/>
                  </a:moveTo>
                  <a:lnTo>
                    <a:pt x="63253" y="0"/>
                  </a:lnTo>
                  <a:lnTo>
                    <a:pt x="63253" y="4871734"/>
                  </a:lnTo>
                  <a:lnTo>
                    <a:pt x="0" y="4871734"/>
                  </a:lnTo>
                  <a:close/>
                </a:path>
              </a:pathLst>
            </a:custGeom>
            <a:gradFill rotWithShape="true">
              <a:gsLst>
                <a:gs pos="0">
                  <a:srgbClr val="0A3F3A">
                    <a:alpha val="100000"/>
                  </a:srgbClr>
                </a:gs>
                <a:gs pos="50000">
                  <a:srgbClr val="116E71">
                    <a:alpha val="100000"/>
                  </a:srgbClr>
                </a:gs>
                <a:gs pos="100000">
                  <a:srgbClr val="43D8C6">
                    <a:alpha val="100000"/>
                  </a:srgbClr>
                </a:gs>
              </a:gsLst>
              <a:path path="circle">
                <a:fillToRect l="0" r="100000" t="0" b="100000"/>
              </a:path>
              <a:tileRect r="0" l="-100000" b="0" t="-100000"/>
            </a:gradFill>
          </p:spPr>
        </p:sp>
        <p:sp>
          <p:nvSpPr>
            <p:cNvPr name="TextBox 7" id="7"/>
            <p:cNvSpPr txBox="true"/>
            <p:nvPr/>
          </p:nvSpPr>
          <p:spPr>
            <a:xfrm>
              <a:off x="0" y="0"/>
              <a:ext cx="63253" cy="4871735"/>
            </a:xfrm>
            <a:prstGeom prst="rect">
              <a:avLst/>
            </a:prstGeom>
          </p:spPr>
          <p:txBody>
            <a:bodyPr anchor="ctr" rtlCol="false" tIns="50800" lIns="50800" bIns="50800" rIns="50800"/>
            <a:lstStyle/>
            <a:p>
              <a:pPr algn="ctr">
                <a:lnSpc>
                  <a:spcPts val="2729"/>
                </a:lnSpc>
              </a:pPr>
            </a:p>
          </p:txBody>
        </p:sp>
      </p:grpSp>
      <p:sp>
        <p:nvSpPr>
          <p:cNvPr name="Freeform 8" id="8"/>
          <p:cNvSpPr/>
          <p:nvPr/>
        </p:nvSpPr>
        <p:spPr>
          <a:xfrm flipH="false" flipV="false" rot="0">
            <a:off x="2059750" y="3855817"/>
            <a:ext cx="14168501" cy="4711027"/>
          </a:xfrm>
          <a:custGeom>
            <a:avLst/>
            <a:gdLst/>
            <a:ahLst/>
            <a:cxnLst/>
            <a:rect r="r" b="b" t="t" l="l"/>
            <a:pathLst>
              <a:path h="4711027" w="14168501">
                <a:moveTo>
                  <a:pt x="0" y="0"/>
                </a:moveTo>
                <a:lnTo>
                  <a:pt x="14168500" y="0"/>
                </a:lnTo>
                <a:lnTo>
                  <a:pt x="14168500" y="4711027"/>
                </a:lnTo>
                <a:lnTo>
                  <a:pt x="0" y="4711027"/>
                </a:lnTo>
                <a:lnTo>
                  <a:pt x="0" y="0"/>
                </a:lnTo>
                <a:close/>
              </a:path>
            </a:pathLst>
          </a:custGeom>
          <a:blipFill>
            <a:blip r:embed="rId2"/>
            <a:stretch>
              <a:fillRect l="0" t="0" r="0" b="0"/>
            </a:stretch>
          </a:blipFill>
        </p:spPr>
      </p:sp>
      <p:sp>
        <p:nvSpPr>
          <p:cNvPr name="TextBox 9" id="9"/>
          <p:cNvSpPr txBox="true"/>
          <p:nvPr/>
        </p:nvSpPr>
        <p:spPr>
          <a:xfrm rot="0">
            <a:off x="2815062" y="950344"/>
            <a:ext cx="12657877" cy="1508464"/>
          </a:xfrm>
          <a:prstGeom prst="rect">
            <a:avLst/>
          </a:prstGeom>
        </p:spPr>
        <p:txBody>
          <a:bodyPr anchor="t" rtlCol="false" tIns="0" lIns="0" bIns="0" rIns="0">
            <a:spAutoFit/>
          </a:bodyPr>
          <a:lstStyle/>
          <a:p>
            <a:pPr algn="l">
              <a:lnSpc>
                <a:spcPts val="10635"/>
              </a:lnSpc>
            </a:pPr>
            <a:r>
              <a:rPr lang="en-US" sz="10635" b="true">
                <a:solidFill>
                  <a:srgbClr val="0B4B49"/>
                </a:solidFill>
                <a:latin typeface="Poppins Bold"/>
                <a:ea typeface="Poppins Bold"/>
                <a:cs typeface="Poppins Bold"/>
                <a:sym typeface="Poppins Bold"/>
              </a:rPr>
              <a:t>DATA COLLECTION</a:t>
            </a:r>
          </a:p>
        </p:txBody>
      </p:sp>
      <p:sp>
        <p:nvSpPr>
          <p:cNvPr name="TextBox 10" id="10"/>
          <p:cNvSpPr txBox="true"/>
          <p:nvPr/>
        </p:nvSpPr>
        <p:spPr>
          <a:xfrm rot="0">
            <a:off x="601725" y="2841649"/>
            <a:ext cx="2213337" cy="737943"/>
          </a:xfrm>
          <a:prstGeom prst="rect">
            <a:avLst/>
          </a:prstGeom>
        </p:spPr>
        <p:txBody>
          <a:bodyPr anchor="t" rtlCol="false" tIns="0" lIns="0" bIns="0" rIns="0">
            <a:spAutoFit/>
          </a:bodyPr>
          <a:lstStyle/>
          <a:p>
            <a:pPr algn="ctr">
              <a:lnSpc>
                <a:spcPts val="5779"/>
              </a:lnSpc>
            </a:pPr>
            <a:r>
              <a:rPr lang="en-US" sz="4128">
                <a:solidFill>
                  <a:srgbClr val="FFFFFF"/>
                </a:solidFill>
                <a:latin typeface="Poppins"/>
                <a:ea typeface="Poppins"/>
                <a:cs typeface="Poppins"/>
                <a:sym typeface="Poppins"/>
              </a:rPr>
              <a:t>60 Days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5400000">
            <a:off x="6841973" y="-10060106"/>
            <a:ext cx="5517710" cy="19721358"/>
            <a:chOff x="0" y="0"/>
            <a:chExt cx="1453224" cy="5194103"/>
          </a:xfrm>
        </p:grpSpPr>
        <p:sp>
          <p:nvSpPr>
            <p:cNvPr name="Freeform 3" id="3"/>
            <p:cNvSpPr/>
            <p:nvPr/>
          </p:nvSpPr>
          <p:spPr>
            <a:xfrm flipH="false" flipV="false" rot="0">
              <a:off x="0" y="0"/>
              <a:ext cx="1453224" cy="5194103"/>
            </a:xfrm>
            <a:custGeom>
              <a:avLst/>
              <a:gdLst/>
              <a:ahLst/>
              <a:cxnLst/>
              <a:rect r="r" b="b" t="t" l="l"/>
              <a:pathLst>
                <a:path h="5194103" w="1453224">
                  <a:moveTo>
                    <a:pt x="0" y="0"/>
                  </a:moveTo>
                  <a:lnTo>
                    <a:pt x="1453224" y="0"/>
                  </a:lnTo>
                  <a:lnTo>
                    <a:pt x="1453224" y="5194103"/>
                  </a:lnTo>
                  <a:lnTo>
                    <a:pt x="0" y="5194103"/>
                  </a:lnTo>
                  <a:close/>
                </a:path>
              </a:pathLst>
            </a:custGeom>
            <a:solidFill>
              <a:srgbClr val="FFFFFF"/>
            </a:solidFill>
          </p:spPr>
        </p:sp>
        <p:sp>
          <p:nvSpPr>
            <p:cNvPr name="TextBox 4" id="4"/>
            <p:cNvSpPr txBox="true"/>
            <p:nvPr/>
          </p:nvSpPr>
          <p:spPr>
            <a:xfrm>
              <a:off x="0" y="0"/>
              <a:ext cx="1453224" cy="5194103"/>
            </a:xfrm>
            <a:prstGeom prst="rect">
              <a:avLst/>
            </a:prstGeom>
          </p:spPr>
          <p:txBody>
            <a:bodyPr anchor="ctr" rtlCol="false" tIns="50800" lIns="50800" bIns="50800" rIns="50800"/>
            <a:lstStyle/>
            <a:p>
              <a:pPr algn="ctr">
                <a:lnSpc>
                  <a:spcPts val="2729"/>
                </a:lnSpc>
              </a:pPr>
            </a:p>
          </p:txBody>
        </p:sp>
      </p:grpSp>
      <p:grpSp>
        <p:nvGrpSpPr>
          <p:cNvPr name="Group 5" id="5"/>
          <p:cNvGrpSpPr/>
          <p:nvPr/>
        </p:nvGrpSpPr>
        <p:grpSpPr>
          <a:xfrm rot="-5400000">
            <a:off x="9023919" y="-6689256"/>
            <a:ext cx="240163" cy="18497367"/>
            <a:chOff x="0" y="0"/>
            <a:chExt cx="63253" cy="4871735"/>
          </a:xfrm>
        </p:grpSpPr>
        <p:sp>
          <p:nvSpPr>
            <p:cNvPr name="Freeform 6" id="6"/>
            <p:cNvSpPr/>
            <p:nvPr/>
          </p:nvSpPr>
          <p:spPr>
            <a:xfrm flipH="false" flipV="false" rot="0">
              <a:off x="0" y="0"/>
              <a:ext cx="63253" cy="4871734"/>
            </a:xfrm>
            <a:custGeom>
              <a:avLst/>
              <a:gdLst/>
              <a:ahLst/>
              <a:cxnLst/>
              <a:rect r="r" b="b" t="t" l="l"/>
              <a:pathLst>
                <a:path h="4871734" w="63253">
                  <a:moveTo>
                    <a:pt x="0" y="0"/>
                  </a:moveTo>
                  <a:lnTo>
                    <a:pt x="63253" y="0"/>
                  </a:lnTo>
                  <a:lnTo>
                    <a:pt x="63253" y="4871734"/>
                  </a:lnTo>
                  <a:lnTo>
                    <a:pt x="0" y="4871734"/>
                  </a:lnTo>
                  <a:close/>
                </a:path>
              </a:pathLst>
            </a:custGeom>
            <a:gradFill rotWithShape="true">
              <a:gsLst>
                <a:gs pos="0">
                  <a:srgbClr val="0A3F3A">
                    <a:alpha val="100000"/>
                  </a:srgbClr>
                </a:gs>
                <a:gs pos="50000">
                  <a:srgbClr val="116E71">
                    <a:alpha val="100000"/>
                  </a:srgbClr>
                </a:gs>
                <a:gs pos="100000">
                  <a:srgbClr val="43D8C6">
                    <a:alpha val="100000"/>
                  </a:srgbClr>
                </a:gs>
              </a:gsLst>
              <a:path path="circle">
                <a:fillToRect l="0" r="100000" t="0" b="100000"/>
              </a:path>
              <a:tileRect r="0" l="-100000" b="0" t="-100000"/>
            </a:gradFill>
          </p:spPr>
        </p:sp>
        <p:sp>
          <p:nvSpPr>
            <p:cNvPr name="TextBox 7" id="7"/>
            <p:cNvSpPr txBox="true"/>
            <p:nvPr/>
          </p:nvSpPr>
          <p:spPr>
            <a:xfrm>
              <a:off x="0" y="0"/>
              <a:ext cx="63253" cy="4871735"/>
            </a:xfrm>
            <a:prstGeom prst="rect">
              <a:avLst/>
            </a:prstGeom>
          </p:spPr>
          <p:txBody>
            <a:bodyPr anchor="ctr" rtlCol="false" tIns="50800" lIns="50800" bIns="50800" rIns="50800"/>
            <a:lstStyle/>
            <a:p>
              <a:pPr algn="ctr">
                <a:lnSpc>
                  <a:spcPts val="2729"/>
                </a:lnSpc>
              </a:pPr>
            </a:p>
          </p:txBody>
        </p:sp>
      </p:grpSp>
      <p:sp>
        <p:nvSpPr>
          <p:cNvPr name="TextBox 8" id="8"/>
          <p:cNvSpPr txBox="true"/>
          <p:nvPr/>
        </p:nvSpPr>
        <p:spPr>
          <a:xfrm rot="0">
            <a:off x="3545429" y="1457055"/>
            <a:ext cx="11197141" cy="655548"/>
          </a:xfrm>
          <a:prstGeom prst="rect">
            <a:avLst/>
          </a:prstGeom>
        </p:spPr>
        <p:txBody>
          <a:bodyPr anchor="t" rtlCol="false" tIns="0" lIns="0" bIns="0" rIns="0">
            <a:spAutoFit/>
          </a:bodyPr>
          <a:lstStyle/>
          <a:p>
            <a:pPr algn="l">
              <a:lnSpc>
                <a:spcPts val="4635"/>
              </a:lnSpc>
            </a:pPr>
            <a:r>
              <a:rPr lang="en-US" sz="4635" b="true">
                <a:solidFill>
                  <a:srgbClr val="0B4B49"/>
                </a:solidFill>
                <a:latin typeface="Poppins Bold"/>
                <a:ea typeface="Poppins Bold"/>
                <a:cs typeface="Poppins Bold"/>
                <a:sym typeface="Poppins Bold"/>
              </a:rPr>
              <a:t>EXPLORATORY DATA ANALYSIS (EDA)</a:t>
            </a:r>
          </a:p>
        </p:txBody>
      </p:sp>
      <p:sp>
        <p:nvSpPr>
          <p:cNvPr name="Freeform 9" id="9"/>
          <p:cNvSpPr/>
          <p:nvPr/>
        </p:nvSpPr>
        <p:spPr>
          <a:xfrm flipH="false" flipV="false" rot="0">
            <a:off x="2608983" y="3242197"/>
            <a:ext cx="13070034" cy="3802606"/>
          </a:xfrm>
          <a:custGeom>
            <a:avLst/>
            <a:gdLst/>
            <a:ahLst/>
            <a:cxnLst/>
            <a:rect r="r" b="b" t="t" l="l"/>
            <a:pathLst>
              <a:path h="3802606" w="13070034">
                <a:moveTo>
                  <a:pt x="0" y="0"/>
                </a:moveTo>
                <a:lnTo>
                  <a:pt x="13070034" y="0"/>
                </a:lnTo>
                <a:lnTo>
                  <a:pt x="13070034" y="3802606"/>
                </a:lnTo>
                <a:lnTo>
                  <a:pt x="0" y="3802606"/>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5400000">
            <a:off x="6841973" y="-10060106"/>
            <a:ext cx="5517710" cy="19721358"/>
            <a:chOff x="0" y="0"/>
            <a:chExt cx="1453224" cy="5194103"/>
          </a:xfrm>
        </p:grpSpPr>
        <p:sp>
          <p:nvSpPr>
            <p:cNvPr name="Freeform 3" id="3"/>
            <p:cNvSpPr/>
            <p:nvPr/>
          </p:nvSpPr>
          <p:spPr>
            <a:xfrm flipH="false" flipV="false" rot="0">
              <a:off x="0" y="0"/>
              <a:ext cx="1453224" cy="5194103"/>
            </a:xfrm>
            <a:custGeom>
              <a:avLst/>
              <a:gdLst/>
              <a:ahLst/>
              <a:cxnLst/>
              <a:rect r="r" b="b" t="t" l="l"/>
              <a:pathLst>
                <a:path h="5194103" w="1453224">
                  <a:moveTo>
                    <a:pt x="0" y="0"/>
                  </a:moveTo>
                  <a:lnTo>
                    <a:pt x="1453224" y="0"/>
                  </a:lnTo>
                  <a:lnTo>
                    <a:pt x="1453224" y="5194103"/>
                  </a:lnTo>
                  <a:lnTo>
                    <a:pt x="0" y="5194103"/>
                  </a:lnTo>
                  <a:close/>
                </a:path>
              </a:pathLst>
            </a:custGeom>
            <a:solidFill>
              <a:srgbClr val="FFFFFF"/>
            </a:solidFill>
          </p:spPr>
        </p:sp>
        <p:sp>
          <p:nvSpPr>
            <p:cNvPr name="TextBox 4" id="4"/>
            <p:cNvSpPr txBox="true"/>
            <p:nvPr/>
          </p:nvSpPr>
          <p:spPr>
            <a:xfrm>
              <a:off x="0" y="0"/>
              <a:ext cx="1453224" cy="5194103"/>
            </a:xfrm>
            <a:prstGeom prst="rect">
              <a:avLst/>
            </a:prstGeom>
          </p:spPr>
          <p:txBody>
            <a:bodyPr anchor="ctr" rtlCol="false" tIns="50800" lIns="50800" bIns="50800" rIns="50800"/>
            <a:lstStyle/>
            <a:p>
              <a:pPr algn="ctr">
                <a:lnSpc>
                  <a:spcPts val="2729"/>
                </a:lnSpc>
              </a:pPr>
            </a:p>
          </p:txBody>
        </p:sp>
      </p:grpSp>
      <p:grpSp>
        <p:nvGrpSpPr>
          <p:cNvPr name="Group 5" id="5"/>
          <p:cNvGrpSpPr/>
          <p:nvPr/>
        </p:nvGrpSpPr>
        <p:grpSpPr>
          <a:xfrm rot="-5400000">
            <a:off x="9023919" y="-6689256"/>
            <a:ext cx="240163" cy="18497367"/>
            <a:chOff x="0" y="0"/>
            <a:chExt cx="63253" cy="4871735"/>
          </a:xfrm>
        </p:grpSpPr>
        <p:sp>
          <p:nvSpPr>
            <p:cNvPr name="Freeform 6" id="6"/>
            <p:cNvSpPr/>
            <p:nvPr/>
          </p:nvSpPr>
          <p:spPr>
            <a:xfrm flipH="false" flipV="false" rot="0">
              <a:off x="0" y="0"/>
              <a:ext cx="63253" cy="4871734"/>
            </a:xfrm>
            <a:custGeom>
              <a:avLst/>
              <a:gdLst/>
              <a:ahLst/>
              <a:cxnLst/>
              <a:rect r="r" b="b" t="t" l="l"/>
              <a:pathLst>
                <a:path h="4871734" w="63253">
                  <a:moveTo>
                    <a:pt x="0" y="0"/>
                  </a:moveTo>
                  <a:lnTo>
                    <a:pt x="63253" y="0"/>
                  </a:lnTo>
                  <a:lnTo>
                    <a:pt x="63253" y="4871734"/>
                  </a:lnTo>
                  <a:lnTo>
                    <a:pt x="0" y="4871734"/>
                  </a:lnTo>
                  <a:close/>
                </a:path>
              </a:pathLst>
            </a:custGeom>
            <a:gradFill rotWithShape="true">
              <a:gsLst>
                <a:gs pos="0">
                  <a:srgbClr val="0A3F3A">
                    <a:alpha val="100000"/>
                  </a:srgbClr>
                </a:gs>
                <a:gs pos="50000">
                  <a:srgbClr val="116E71">
                    <a:alpha val="100000"/>
                  </a:srgbClr>
                </a:gs>
                <a:gs pos="100000">
                  <a:srgbClr val="43D8C6">
                    <a:alpha val="100000"/>
                  </a:srgbClr>
                </a:gs>
              </a:gsLst>
              <a:path path="circle">
                <a:fillToRect l="0" r="100000" t="0" b="100000"/>
              </a:path>
              <a:tileRect r="0" l="-100000" b="0" t="-100000"/>
            </a:gradFill>
          </p:spPr>
        </p:sp>
        <p:sp>
          <p:nvSpPr>
            <p:cNvPr name="TextBox 7" id="7"/>
            <p:cNvSpPr txBox="true"/>
            <p:nvPr/>
          </p:nvSpPr>
          <p:spPr>
            <a:xfrm>
              <a:off x="0" y="0"/>
              <a:ext cx="63253" cy="4871735"/>
            </a:xfrm>
            <a:prstGeom prst="rect">
              <a:avLst/>
            </a:prstGeom>
          </p:spPr>
          <p:txBody>
            <a:bodyPr anchor="ctr" rtlCol="false" tIns="50800" lIns="50800" bIns="50800" rIns="50800"/>
            <a:lstStyle/>
            <a:p>
              <a:pPr algn="ctr">
                <a:lnSpc>
                  <a:spcPts val="2729"/>
                </a:lnSpc>
              </a:pPr>
            </a:p>
          </p:txBody>
        </p:sp>
      </p:grpSp>
      <p:sp>
        <p:nvSpPr>
          <p:cNvPr name="Freeform 8" id="8"/>
          <p:cNvSpPr/>
          <p:nvPr/>
        </p:nvSpPr>
        <p:spPr>
          <a:xfrm flipH="false" flipV="false" rot="0">
            <a:off x="3950198" y="3667601"/>
            <a:ext cx="11301259" cy="5636503"/>
          </a:xfrm>
          <a:custGeom>
            <a:avLst/>
            <a:gdLst/>
            <a:ahLst/>
            <a:cxnLst/>
            <a:rect r="r" b="b" t="t" l="l"/>
            <a:pathLst>
              <a:path h="5636503" w="11301259">
                <a:moveTo>
                  <a:pt x="0" y="0"/>
                </a:moveTo>
                <a:lnTo>
                  <a:pt x="11301259" y="0"/>
                </a:lnTo>
                <a:lnTo>
                  <a:pt x="11301259" y="5636503"/>
                </a:lnTo>
                <a:lnTo>
                  <a:pt x="0" y="5636503"/>
                </a:lnTo>
                <a:lnTo>
                  <a:pt x="0" y="0"/>
                </a:lnTo>
                <a:close/>
              </a:path>
            </a:pathLst>
          </a:custGeom>
          <a:blipFill>
            <a:blip r:embed="rId2"/>
            <a:stretch>
              <a:fillRect l="0" t="0" r="0" b="0"/>
            </a:stretch>
          </a:blipFill>
        </p:spPr>
      </p:sp>
      <p:sp>
        <p:nvSpPr>
          <p:cNvPr name="TextBox 9" id="9"/>
          <p:cNvSpPr txBox="true"/>
          <p:nvPr/>
        </p:nvSpPr>
        <p:spPr>
          <a:xfrm rot="0">
            <a:off x="3545429" y="1457055"/>
            <a:ext cx="11197141" cy="655548"/>
          </a:xfrm>
          <a:prstGeom prst="rect">
            <a:avLst/>
          </a:prstGeom>
        </p:spPr>
        <p:txBody>
          <a:bodyPr anchor="t" rtlCol="false" tIns="0" lIns="0" bIns="0" rIns="0">
            <a:spAutoFit/>
          </a:bodyPr>
          <a:lstStyle/>
          <a:p>
            <a:pPr algn="l">
              <a:lnSpc>
                <a:spcPts val="4635"/>
              </a:lnSpc>
            </a:pPr>
            <a:r>
              <a:rPr lang="en-US" sz="4635" b="true">
                <a:solidFill>
                  <a:srgbClr val="0B4B49"/>
                </a:solidFill>
                <a:latin typeface="Poppins Bold"/>
                <a:ea typeface="Poppins Bold"/>
                <a:cs typeface="Poppins Bold"/>
                <a:sym typeface="Poppins Bold"/>
              </a:rPr>
              <a:t>EXPLORATORY DATA ANALYSIS (EDA)</a:t>
            </a:r>
          </a:p>
        </p:txBody>
      </p:sp>
      <p:sp>
        <p:nvSpPr>
          <p:cNvPr name="TextBox 10" id="10"/>
          <p:cNvSpPr txBox="true"/>
          <p:nvPr/>
        </p:nvSpPr>
        <p:spPr>
          <a:xfrm rot="0">
            <a:off x="1028700" y="3003359"/>
            <a:ext cx="3524250" cy="385087"/>
          </a:xfrm>
          <a:prstGeom prst="rect">
            <a:avLst/>
          </a:prstGeom>
        </p:spPr>
        <p:txBody>
          <a:bodyPr anchor="t" rtlCol="false" tIns="0" lIns="0" bIns="0" rIns="0">
            <a:spAutoFit/>
          </a:bodyPr>
          <a:lstStyle/>
          <a:p>
            <a:pPr algn="ctr">
              <a:lnSpc>
                <a:spcPts val="2729"/>
              </a:lnSpc>
              <a:spcBef>
                <a:spcPct val="0"/>
              </a:spcBef>
            </a:pPr>
            <a:r>
              <a:rPr lang="en-US" b="true" sz="2551">
                <a:solidFill>
                  <a:srgbClr val="FFFFFF"/>
                </a:solidFill>
                <a:latin typeface="Poppins Semi-Bold"/>
                <a:ea typeface="Poppins Semi-Bold"/>
                <a:cs typeface="Poppins Semi-Bold"/>
                <a:sym typeface="Poppins Semi-Bold"/>
              </a:rPr>
              <a:t>PRODUCTIVITY TREND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5400000">
            <a:off x="6841973" y="-10060106"/>
            <a:ext cx="5517710" cy="19721358"/>
            <a:chOff x="0" y="0"/>
            <a:chExt cx="1453224" cy="5194103"/>
          </a:xfrm>
        </p:grpSpPr>
        <p:sp>
          <p:nvSpPr>
            <p:cNvPr name="Freeform 3" id="3"/>
            <p:cNvSpPr/>
            <p:nvPr/>
          </p:nvSpPr>
          <p:spPr>
            <a:xfrm flipH="false" flipV="false" rot="0">
              <a:off x="0" y="0"/>
              <a:ext cx="1453224" cy="5194103"/>
            </a:xfrm>
            <a:custGeom>
              <a:avLst/>
              <a:gdLst/>
              <a:ahLst/>
              <a:cxnLst/>
              <a:rect r="r" b="b" t="t" l="l"/>
              <a:pathLst>
                <a:path h="5194103" w="1453224">
                  <a:moveTo>
                    <a:pt x="0" y="0"/>
                  </a:moveTo>
                  <a:lnTo>
                    <a:pt x="1453224" y="0"/>
                  </a:lnTo>
                  <a:lnTo>
                    <a:pt x="1453224" y="5194103"/>
                  </a:lnTo>
                  <a:lnTo>
                    <a:pt x="0" y="5194103"/>
                  </a:lnTo>
                  <a:close/>
                </a:path>
              </a:pathLst>
            </a:custGeom>
            <a:solidFill>
              <a:srgbClr val="FFFFFF"/>
            </a:solidFill>
          </p:spPr>
        </p:sp>
        <p:sp>
          <p:nvSpPr>
            <p:cNvPr name="TextBox 4" id="4"/>
            <p:cNvSpPr txBox="true"/>
            <p:nvPr/>
          </p:nvSpPr>
          <p:spPr>
            <a:xfrm>
              <a:off x="0" y="0"/>
              <a:ext cx="1453224" cy="5194103"/>
            </a:xfrm>
            <a:prstGeom prst="rect">
              <a:avLst/>
            </a:prstGeom>
          </p:spPr>
          <p:txBody>
            <a:bodyPr anchor="ctr" rtlCol="false" tIns="50800" lIns="50800" bIns="50800" rIns="50800"/>
            <a:lstStyle/>
            <a:p>
              <a:pPr algn="ctr">
                <a:lnSpc>
                  <a:spcPts val="2729"/>
                </a:lnSpc>
              </a:pPr>
            </a:p>
          </p:txBody>
        </p:sp>
      </p:grpSp>
      <p:grpSp>
        <p:nvGrpSpPr>
          <p:cNvPr name="Group 5" id="5"/>
          <p:cNvGrpSpPr/>
          <p:nvPr/>
        </p:nvGrpSpPr>
        <p:grpSpPr>
          <a:xfrm rot="-5400000">
            <a:off x="9023919" y="-6689256"/>
            <a:ext cx="240163" cy="18497367"/>
            <a:chOff x="0" y="0"/>
            <a:chExt cx="63253" cy="4871735"/>
          </a:xfrm>
        </p:grpSpPr>
        <p:sp>
          <p:nvSpPr>
            <p:cNvPr name="Freeform 6" id="6"/>
            <p:cNvSpPr/>
            <p:nvPr/>
          </p:nvSpPr>
          <p:spPr>
            <a:xfrm flipH="false" flipV="false" rot="0">
              <a:off x="0" y="0"/>
              <a:ext cx="63253" cy="4871734"/>
            </a:xfrm>
            <a:custGeom>
              <a:avLst/>
              <a:gdLst/>
              <a:ahLst/>
              <a:cxnLst/>
              <a:rect r="r" b="b" t="t" l="l"/>
              <a:pathLst>
                <a:path h="4871734" w="63253">
                  <a:moveTo>
                    <a:pt x="0" y="0"/>
                  </a:moveTo>
                  <a:lnTo>
                    <a:pt x="63253" y="0"/>
                  </a:lnTo>
                  <a:lnTo>
                    <a:pt x="63253" y="4871734"/>
                  </a:lnTo>
                  <a:lnTo>
                    <a:pt x="0" y="4871734"/>
                  </a:lnTo>
                  <a:close/>
                </a:path>
              </a:pathLst>
            </a:custGeom>
            <a:gradFill rotWithShape="true">
              <a:gsLst>
                <a:gs pos="0">
                  <a:srgbClr val="0A3F3A">
                    <a:alpha val="100000"/>
                  </a:srgbClr>
                </a:gs>
                <a:gs pos="50000">
                  <a:srgbClr val="116E71">
                    <a:alpha val="100000"/>
                  </a:srgbClr>
                </a:gs>
                <a:gs pos="100000">
                  <a:srgbClr val="43D8C6">
                    <a:alpha val="100000"/>
                  </a:srgbClr>
                </a:gs>
              </a:gsLst>
              <a:path path="circle">
                <a:fillToRect l="0" r="100000" t="0" b="100000"/>
              </a:path>
              <a:tileRect r="0" l="-100000" b="0" t="-100000"/>
            </a:gradFill>
          </p:spPr>
        </p:sp>
        <p:sp>
          <p:nvSpPr>
            <p:cNvPr name="TextBox 7" id="7"/>
            <p:cNvSpPr txBox="true"/>
            <p:nvPr/>
          </p:nvSpPr>
          <p:spPr>
            <a:xfrm>
              <a:off x="0" y="0"/>
              <a:ext cx="63253" cy="4871735"/>
            </a:xfrm>
            <a:prstGeom prst="rect">
              <a:avLst/>
            </a:prstGeom>
          </p:spPr>
          <p:txBody>
            <a:bodyPr anchor="ctr" rtlCol="false" tIns="50800" lIns="50800" bIns="50800" rIns="50800"/>
            <a:lstStyle/>
            <a:p>
              <a:pPr algn="ctr">
                <a:lnSpc>
                  <a:spcPts val="2729"/>
                </a:lnSpc>
              </a:pPr>
            </a:p>
          </p:txBody>
        </p:sp>
      </p:grpSp>
      <p:sp>
        <p:nvSpPr>
          <p:cNvPr name="Freeform 8" id="8"/>
          <p:cNvSpPr/>
          <p:nvPr/>
        </p:nvSpPr>
        <p:spPr>
          <a:xfrm flipH="false" flipV="false" rot="0">
            <a:off x="1779031" y="3606785"/>
            <a:ext cx="10072903" cy="6230135"/>
          </a:xfrm>
          <a:custGeom>
            <a:avLst/>
            <a:gdLst/>
            <a:ahLst/>
            <a:cxnLst/>
            <a:rect r="r" b="b" t="t" l="l"/>
            <a:pathLst>
              <a:path h="6230135" w="10072903">
                <a:moveTo>
                  <a:pt x="0" y="0"/>
                </a:moveTo>
                <a:lnTo>
                  <a:pt x="10072903" y="0"/>
                </a:lnTo>
                <a:lnTo>
                  <a:pt x="10072903" y="6230135"/>
                </a:lnTo>
                <a:lnTo>
                  <a:pt x="0" y="6230135"/>
                </a:lnTo>
                <a:lnTo>
                  <a:pt x="0" y="0"/>
                </a:lnTo>
                <a:close/>
              </a:path>
            </a:pathLst>
          </a:custGeom>
          <a:blipFill>
            <a:blip r:embed="rId2"/>
            <a:stretch>
              <a:fillRect l="0" t="0" r="0" b="0"/>
            </a:stretch>
          </a:blipFill>
        </p:spPr>
      </p:sp>
      <p:sp>
        <p:nvSpPr>
          <p:cNvPr name="TextBox 9" id="9"/>
          <p:cNvSpPr txBox="true"/>
          <p:nvPr/>
        </p:nvSpPr>
        <p:spPr>
          <a:xfrm rot="0">
            <a:off x="7004235" y="1347033"/>
            <a:ext cx="4279529" cy="655548"/>
          </a:xfrm>
          <a:prstGeom prst="rect">
            <a:avLst/>
          </a:prstGeom>
        </p:spPr>
        <p:txBody>
          <a:bodyPr anchor="t" rtlCol="false" tIns="0" lIns="0" bIns="0" rIns="0">
            <a:spAutoFit/>
          </a:bodyPr>
          <a:lstStyle/>
          <a:p>
            <a:pPr algn="l">
              <a:lnSpc>
                <a:spcPts val="4635"/>
              </a:lnSpc>
            </a:pPr>
            <a:r>
              <a:rPr lang="en-US" sz="4635" b="true">
                <a:solidFill>
                  <a:srgbClr val="0B4B49"/>
                </a:solidFill>
                <a:latin typeface="Poppins Bold"/>
                <a:ea typeface="Poppins Bold"/>
                <a:cs typeface="Poppins Bold"/>
                <a:sym typeface="Poppins Bold"/>
              </a:rPr>
              <a:t>CORRELATION</a:t>
            </a:r>
          </a:p>
        </p:txBody>
      </p:sp>
      <p:sp>
        <p:nvSpPr>
          <p:cNvPr name="TextBox 10" id="10"/>
          <p:cNvSpPr txBox="true"/>
          <p:nvPr/>
        </p:nvSpPr>
        <p:spPr>
          <a:xfrm rot="0">
            <a:off x="0" y="3003359"/>
            <a:ext cx="11055228" cy="385087"/>
          </a:xfrm>
          <a:prstGeom prst="rect">
            <a:avLst/>
          </a:prstGeom>
        </p:spPr>
        <p:txBody>
          <a:bodyPr anchor="t" rtlCol="false" tIns="0" lIns="0" bIns="0" rIns="0">
            <a:spAutoFit/>
          </a:bodyPr>
          <a:lstStyle/>
          <a:p>
            <a:pPr algn="ctr">
              <a:lnSpc>
                <a:spcPts val="2729"/>
              </a:lnSpc>
              <a:spcBef>
                <a:spcPct val="0"/>
              </a:spcBef>
            </a:pPr>
            <a:r>
              <a:rPr lang="en-US" b="true" sz="2551">
                <a:solidFill>
                  <a:srgbClr val="FFFFFF"/>
                </a:solidFill>
                <a:latin typeface="Poppins Semi-Bold"/>
                <a:ea typeface="Poppins Semi-Bold"/>
                <a:cs typeface="Poppins Semi-Bold"/>
                <a:sym typeface="Poppins Semi-Bold"/>
              </a:rPr>
              <a:t>AVERAGE PRODUCTIVITY BY PERCEIVED WORKOUT INTENSITY</a:t>
            </a:r>
          </a:p>
        </p:txBody>
      </p:sp>
      <p:sp>
        <p:nvSpPr>
          <p:cNvPr name="TextBox 11" id="11"/>
          <p:cNvSpPr txBox="true"/>
          <p:nvPr/>
        </p:nvSpPr>
        <p:spPr>
          <a:xfrm rot="0">
            <a:off x="12847280" y="5636958"/>
            <a:ext cx="4412020" cy="728053"/>
          </a:xfrm>
          <a:prstGeom prst="rect">
            <a:avLst/>
          </a:prstGeom>
        </p:spPr>
        <p:txBody>
          <a:bodyPr anchor="t" rtlCol="false" tIns="0" lIns="0" bIns="0" rIns="0">
            <a:spAutoFit/>
          </a:bodyPr>
          <a:lstStyle/>
          <a:p>
            <a:pPr algn="ctr">
              <a:lnSpc>
                <a:spcPts val="2729"/>
              </a:lnSpc>
              <a:spcBef>
                <a:spcPct val="0"/>
              </a:spcBef>
            </a:pPr>
            <a:r>
              <a:rPr lang="en-US" b="true" sz="2551">
                <a:solidFill>
                  <a:srgbClr val="FFFFFF"/>
                </a:solidFill>
                <a:latin typeface="Poppins Semi-Bold"/>
                <a:ea typeface="Poppins Semi-Bold"/>
                <a:cs typeface="Poppins Semi-Bold"/>
                <a:sym typeface="Poppins Semi-Bold"/>
              </a:rPr>
              <a:t>Intensity vs Productivity: r=0.393, p=0.0019</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5400000">
            <a:off x="6841973" y="-10060106"/>
            <a:ext cx="5517710" cy="19721358"/>
            <a:chOff x="0" y="0"/>
            <a:chExt cx="1453224" cy="5194103"/>
          </a:xfrm>
        </p:grpSpPr>
        <p:sp>
          <p:nvSpPr>
            <p:cNvPr name="Freeform 3" id="3"/>
            <p:cNvSpPr/>
            <p:nvPr/>
          </p:nvSpPr>
          <p:spPr>
            <a:xfrm flipH="false" flipV="false" rot="0">
              <a:off x="0" y="0"/>
              <a:ext cx="1453224" cy="5194103"/>
            </a:xfrm>
            <a:custGeom>
              <a:avLst/>
              <a:gdLst/>
              <a:ahLst/>
              <a:cxnLst/>
              <a:rect r="r" b="b" t="t" l="l"/>
              <a:pathLst>
                <a:path h="5194103" w="1453224">
                  <a:moveTo>
                    <a:pt x="0" y="0"/>
                  </a:moveTo>
                  <a:lnTo>
                    <a:pt x="1453224" y="0"/>
                  </a:lnTo>
                  <a:lnTo>
                    <a:pt x="1453224" y="5194103"/>
                  </a:lnTo>
                  <a:lnTo>
                    <a:pt x="0" y="5194103"/>
                  </a:lnTo>
                  <a:close/>
                </a:path>
              </a:pathLst>
            </a:custGeom>
            <a:solidFill>
              <a:srgbClr val="FFFFFF"/>
            </a:solidFill>
          </p:spPr>
        </p:sp>
        <p:sp>
          <p:nvSpPr>
            <p:cNvPr name="TextBox 4" id="4"/>
            <p:cNvSpPr txBox="true"/>
            <p:nvPr/>
          </p:nvSpPr>
          <p:spPr>
            <a:xfrm>
              <a:off x="0" y="0"/>
              <a:ext cx="1453224" cy="5194103"/>
            </a:xfrm>
            <a:prstGeom prst="rect">
              <a:avLst/>
            </a:prstGeom>
          </p:spPr>
          <p:txBody>
            <a:bodyPr anchor="ctr" rtlCol="false" tIns="50800" lIns="50800" bIns="50800" rIns="50800"/>
            <a:lstStyle/>
            <a:p>
              <a:pPr algn="ctr">
                <a:lnSpc>
                  <a:spcPts val="2729"/>
                </a:lnSpc>
              </a:pPr>
            </a:p>
          </p:txBody>
        </p:sp>
      </p:grpSp>
      <p:grpSp>
        <p:nvGrpSpPr>
          <p:cNvPr name="Group 5" id="5"/>
          <p:cNvGrpSpPr/>
          <p:nvPr/>
        </p:nvGrpSpPr>
        <p:grpSpPr>
          <a:xfrm rot="-5400000">
            <a:off x="9023919" y="-6689256"/>
            <a:ext cx="240163" cy="18497367"/>
            <a:chOff x="0" y="0"/>
            <a:chExt cx="63253" cy="4871735"/>
          </a:xfrm>
        </p:grpSpPr>
        <p:sp>
          <p:nvSpPr>
            <p:cNvPr name="Freeform 6" id="6"/>
            <p:cNvSpPr/>
            <p:nvPr/>
          </p:nvSpPr>
          <p:spPr>
            <a:xfrm flipH="false" flipV="false" rot="0">
              <a:off x="0" y="0"/>
              <a:ext cx="63253" cy="4871734"/>
            </a:xfrm>
            <a:custGeom>
              <a:avLst/>
              <a:gdLst/>
              <a:ahLst/>
              <a:cxnLst/>
              <a:rect r="r" b="b" t="t" l="l"/>
              <a:pathLst>
                <a:path h="4871734" w="63253">
                  <a:moveTo>
                    <a:pt x="0" y="0"/>
                  </a:moveTo>
                  <a:lnTo>
                    <a:pt x="63253" y="0"/>
                  </a:lnTo>
                  <a:lnTo>
                    <a:pt x="63253" y="4871734"/>
                  </a:lnTo>
                  <a:lnTo>
                    <a:pt x="0" y="4871734"/>
                  </a:lnTo>
                  <a:close/>
                </a:path>
              </a:pathLst>
            </a:custGeom>
            <a:gradFill rotWithShape="true">
              <a:gsLst>
                <a:gs pos="0">
                  <a:srgbClr val="0A3F3A">
                    <a:alpha val="100000"/>
                  </a:srgbClr>
                </a:gs>
                <a:gs pos="50000">
                  <a:srgbClr val="116E71">
                    <a:alpha val="100000"/>
                  </a:srgbClr>
                </a:gs>
                <a:gs pos="100000">
                  <a:srgbClr val="43D8C6">
                    <a:alpha val="100000"/>
                  </a:srgbClr>
                </a:gs>
              </a:gsLst>
              <a:path path="circle">
                <a:fillToRect l="0" r="100000" t="0" b="100000"/>
              </a:path>
              <a:tileRect r="0" l="-100000" b="0" t="-100000"/>
            </a:gradFill>
          </p:spPr>
        </p:sp>
        <p:sp>
          <p:nvSpPr>
            <p:cNvPr name="TextBox 7" id="7"/>
            <p:cNvSpPr txBox="true"/>
            <p:nvPr/>
          </p:nvSpPr>
          <p:spPr>
            <a:xfrm>
              <a:off x="0" y="0"/>
              <a:ext cx="63253" cy="4871735"/>
            </a:xfrm>
            <a:prstGeom prst="rect">
              <a:avLst/>
            </a:prstGeom>
          </p:spPr>
          <p:txBody>
            <a:bodyPr anchor="ctr" rtlCol="false" tIns="50800" lIns="50800" bIns="50800" rIns="50800"/>
            <a:lstStyle/>
            <a:p>
              <a:pPr algn="ctr">
                <a:lnSpc>
                  <a:spcPts val="2729"/>
                </a:lnSpc>
              </a:pPr>
            </a:p>
          </p:txBody>
        </p:sp>
      </p:grpSp>
      <p:sp>
        <p:nvSpPr>
          <p:cNvPr name="Freeform 8" id="8"/>
          <p:cNvSpPr/>
          <p:nvPr/>
        </p:nvSpPr>
        <p:spPr>
          <a:xfrm flipH="false" flipV="false" rot="0">
            <a:off x="1028700" y="3534623"/>
            <a:ext cx="11301259" cy="6229819"/>
          </a:xfrm>
          <a:custGeom>
            <a:avLst/>
            <a:gdLst/>
            <a:ahLst/>
            <a:cxnLst/>
            <a:rect r="r" b="b" t="t" l="l"/>
            <a:pathLst>
              <a:path h="6229819" w="11301259">
                <a:moveTo>
                  <a:pt x="0" y="0"/>
                </a:moveTo>
                <a:lnTo>
                  <a:pt x="11301259" y="0"/>
                </a:lnTo>
                <a:lnTo>
                  <a:pt x="11301259" y="6229819"/>
                </a:lnTo>
                <a:lnTo>
                  <a:pt x="0" y="6229819"/>
                </a:lnTo>
                <a:lnTo>
                  <a:pt x="0" y="0"/>
                </a:lnTo>
                <a:close/>
              </a:path>
            </a:pathLst>
          </a:custGeom>
          <a:blipFill>
            <a:blip r:embed="rId2"/>
            <a:stretch>
              <a:fillRect l="0" t="0" r="0" b="0"/>
            </a:stretch>
          </a:blipFill>
        </p:spPr>
      </p:sp>
      <p:sp>
        <p:nvSpPr>
          <p:cNvPr name="TextBox 9" id="9"/>
          <p:cNvSpPr txBox="true"/>
          <p:nvPr/>
        </p:nvSpPr>
        <p:spPr>
          <a:xfrm rot="0">
            <a:off x="7004235" y="1347033"/>
            <a:ext cx="4279529" cy="655548"/>
          </a:xfrm>
          <a:prstGeom prst="rect">
            <a:avLst/>
          </a:prstGeom>
        </p:spPr>
        <p:txBody>
          <a:bodyPr anchor="t" rtlCol="false" tIns="0" lIns="0" bIns="0" rIns="0">
            <a:spAutoFit/>
          </a:bodyPr>
          <a:lstStyle/>
          <a:p>
            <a:pPr algn="l">
              <a:lnSpc>
                <a:spcPts val="4635"/>
              </a:lnSpc>
            </a:pPr>
            <a:r>
              <a:rPr lang="en-US" sz="4635" b="true">
                <a:solidFill>
                  <a:srgbClr val="0B4B49"/>
                </a:solidFill>
                <a:latin typeface="Poppins Bold"/>
                <a:ea typeface="Poppins Bold"/>
                <a:cs typeface="Poppins Bold"/>
                <a:sym typeface="Poppins Bold"/>
              </a:rPr>
              <a:t>CORRELATION</a:t>
            </a:r>
          </a:p>
        </p:txBody>
      </p:sp>
      <p:sp>
        <p:nvSpPr>
          <p:cNvPr name="TextBox 10" id="10"/>
          <p:cNvSpPr txBox="true"/>
          <p:nvPr/>
        </p:nvSpPr>
        <p:spPr>
          <a:xfrm rot="0">
            <a:off x="0" y="3003359"/>
            <a:ext cx="11055228" cy="385087"/>
          </a:xfrm>
          <a:prstGeom prst="rect">
            <a:avLst/>
          </a:prstGeom>
        </p:spPr>
        <p:txBody>
          <a:bodyPr anchor="t" rtlCol="false" tIns="0" lIns="0" bIns="0" rIns="0">
            <a:spAutoFit/>
          </a:bodyPr>
          <a:lstStyle/>
          <a:p>
            <a:pPr algn="ctr">
              <a:lnSpc>
                <a:spcPts val="2729"/>
              </a:lnSpc>
              <a:spcBef>
                <a:spcPct val="0"/>
              </a:spcBef>
            </a:pPr>
            <a:r>
              <a:rPr lang="en-US" b="true" sz="2551">
                <a:solidFill>
                  <a:srgbClr val="FFFFFF"/>
                </a:solidFill>
                <a:latin typeface="Poppins Semi-Bold"/>
                <a:ea typeface="Poppins Semi-Bold"/>
                <a:cs typeface="Poppins Semi-Bold"/>
                <a:sym typeface="Poppins Semi-Bold"/>
              </a:rPr>
              <a:t>AVERAGE PRODUCTIVITY BY SLEEP DURATION</a:t>
            </a:r>
          </a:p>
        </p:txBody>
      </p:sp>
      <p:sp>
        <p:nvSpPr>
          <p:cNvPr name="TextBox 11" id="11"/>
          <p:cNvSpPr txBox="true"/>
          <p:nvPr/>
        </p:nvSpPr>
        <p:spPr>
          <a:xfrm rot="0">
            <a:off x="13279489" y="5921480"/>
            <a:ext cx="4412020" cy="728053"/>
          </a:xfrm>
          <a:prstGeom prst="rect">
            <a:avLst/>
          </a:prstGeom>
        </p:spPr>
        <p:txBody>
          <a:bodyPr anchor="t" rtlCol="false" tIns="0" lIns="0" bIns="0" rIns="0">
            <a:spAutoFit/>
          </a:bodyPr>
          <a:lstStyle/>
          <a:p>
            <a:pPr algn="ctr">
              <a:lnSpc>
                <a:spcPts val="2729"/>
              </a:lnSpc>
              <a:spcBef>
                <a:spcPct val="0"/>
              </a:spcBef>
            </a:pPr>
            <a:r>
              <a:rPr lang="en-US" b="true" sz="2551">
                <a:solidFill>
                  <a:srgbClr val="FFFFFF"/>
                </a:solidFill>
                <a:latin typeface="Poppins Semi-Bold"/>
                <a:ea typeface="Poppins Semi-Bold"/>
                <a:cs typeface="Poppins Semi-Bold"/>
                <a:sym typeface="Poppins Semi-Bold"/>
              </a:rPr>
              <a:t>Sleep vs Productivity: r=-0.305, p=0.0177</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5400000">
            <a:off x="6841973" y="-10060106"/>
            <a:ext cx="5517710" cy="19721358"/>
            <a:chOff x="0" y="0"/>
            <a:chExt cx="1453224" cy="5194103"/>
          </a:xfrm>
        </p:grpSpPr>
        <p:sp>
          <p:nvSpPr>
            <p:cNvPr name="Freeform 3" id="3"/>
            <p:cNvSpPr/>
            <p:nvPr/>
          </p:nvSpPr>
          <p:spPr>
            <a:xfrm flipH="false" flipV="false" rot="0">
              <a:off x="0" y="0"/>
              <a:ext cx="1453224" cy="5194103"/>
            </a:xfrm>
            <a:custGeom>
              <a:avLst/>
              <a:gdLst/>
              <a:ahLst/>
              <a:cxnLst/>
              <a:rect r="r" b="b" t="t" l="l"/>
              <a:pathLst>
                <a:path h="5194103" w="1453224">
                  <a:moveTo>
                    <a:pt x="0" y="0"/>
                  </a:moveTo>
                  <a:lnTo>
                    <a:pt x="1453224" y="0"/>
                  </a:lnTo>
                  <a:lnTo>
                    <a:pt x="1453224" y="5194103"/>
                  </a:lnTo>
                  <a:lnTo>
                    <a:pt x="0" y="5194103"/>
                  </a:lnTo>
                  <a:close/>
                </a:path>
              </a:pathLst>
            </a:custGeom>
            <a:solidFill>
              <a:srgbClr val="FFFFFF"/>
            </a:solidFill>
          </p:spPr>
        </p:sp>
        <p:sp>
          <p:nvSpPr>
            <p:cNvPr name="TextBox 4" id="4"/>
            <p:cNvSpPr txBox="true"/>
            <p:nvPr/>
          </p:nvSpPr>
          <p:spPr>
            <a:xfrm>
              <a:off x="0" y="0"/>
              <a:ext cx="1453224" cy="5194103"/>
            </a:xfrm>
            <a:prstGeom prst="rect">
              <a:avLst/>
            </a:prstGeom>
          </p:spPr>
          <p:txBody>
            <a:bodyPr anchor="ctr" rtlCol="false" tIns="50800" lIns="50800" bIns="50800" rIns="50800"/>
            <a:lstStyle/>
            <a:p>
              <a:pPr algn="ctr">
                <a:lnSpc>
                  <a:spcPts val="2729"/>
                </a:lnSpc>
              </a:pPr>
            </a:p>
          </p:txBody>
        </p:sp>
      </p:grpSp>
      <p:grpSp>
        <p:nvGrpSpPr>
          <p:cNvPr name="Group 5" id="5"/>
          <p:cNvGrpSpPr/>
          <p:nvPr/>
        </p:nvGrpSpPr>
        <p:grpSpPr>
          <a:xfrm rot="-5400000">
            <a:off x="9023919" y="-6689256"/>
            <a:ext cx="240163" cy="18497367"/>
            <a:chOff x="0" y="0"/>
            <a:chExt cx="63253" cy="4871735"/>
          </a:xfrm>
        </p:grpSpPr>
        <p:sp>
          <p:nvSpPr>
            <p:cNvPr name="Freeform 6" id="6"/>
            <p:cNvSpPr/>
            <p:nvPr/>
          </p:nvSpPr>
          <p:spPr>
            <a:xfrm flipH="false" flipV="false" rot="0">
              <a:off x="0" y="0"/>
              <a:ext cx="63253" cy="4871734"/>
            </a:xfrm>
            <a:custGeom>
              <a:avLst/>
              <a:gdLst/>
              <a:ahLst/>
              <a:cxnLst/>
              <a:rect r="r" b="b" t="t" l="l"/>
              <a:pathLst>
                <a:path h="4871734" w="63253">
                  <a:moveTo>
                    <a:pt x="0" y="0"/>
                  </a:moveTo>
                  <a:lnTo>
                    <a:pt x="63253" y="0"/>
                  </a:lnTo>
                  <a:lnTo>
                    <a:pt x="63253" y="4871734"/>
                  </a:lnTo>
                  <a:lnTo>
                    <a:pt x="0" y="4871734"/>
                  </a:lnTo>
                  <a:close/>
                </a:path>
              </a:pathLst>
            </a:custGeom>
            <a:gradFill rotWithShape="true">
              <a:gsLst>
                <a:gs pos="0">
                  <a:srgbClr val="0A3F3A">
                    <a:alpha val="100000"/>
                  </a:srgbClr>
                </a:gs>
                <a:gs pos="50000">
                  <a:srgbClr val="116E71">
                    <a:alpha val="100000"/>
                  </a:srgbClr>
                </a:gs>
                <a:gs pos="100000">
                  <a:srgbClr val="43D8C6">
                    <a:alpha val="100000"/>
                  </a:srgbClr>
                </a:gs>
              </a:gsLst>
              <a:path path="circle">
                <a:fillToRect l="0" r="100000" t="0" b="100000"/>
              </a:path>
              <a:tileRect r="0" l="-100000" b="0" t="-100000"/>
            </a:gradFill>
          </p:spPr>
        </p:sp>
        <p:sp>
          <p:nvSpPr>
            <p:cNvPr name="TextBox 7" id="7"/>
            <p:cNvSpPr txBox="true"/>
            <p:nvPr/>
          </p:nvSpPr>
          <p:spPr>
            <a:xfrm>
              <a:off x="0" y="0"/>
              <a:ext cx="63253" cy="4871735"/>
            </a:xfrm>
            <a:prstGeom prst="rect">
              <a:avLst/>
            </a:prstGeom>
          </p:spPr>
          <p:txBody>
            <a:bodyPr anchor="ctr" rtlCol="false" tIns="50800" lIns="50800" bIns="50800" rIns="50800"/>
            <a:lstStyle/>
            <a:p>
              <a:pPr algn="ctr">
                <a:lnSpc>
                  <a:spcPts val="2729"/>
                </a:lnSpc>
              </a:pPr>
            </a:p>
          </p:txBody>
        </p:sp>
      </p:grpSp>
      <p:sp>
        <p:nvSpPr>
          <p:cNvPr name="Freeform 8" id="8"/>
          <p:cNvSpPr/>
          <p:nvPr/>
        </p:nvSpPr>
        <p:spPr>
          <a:xfrm flipH="false" flipV="false" rot="0">
            <a:off x="1350910" y="3565205"/>
            <a:ext cx="10320852" cy="6375413"/>
          </a:xfrm>
          <a:custGeom>
            <a:avLst/>
            <a:gdLst/>
            <a:ahLst/>
            <a:cxnLst/>
            <a:rect r="r" b="b" t="t" l="l"/>
            <a:pathLst>
              <a:path h="6375413" w="10320852">
                <a:moveTo>
                  <a:pt x="0" y="0"/>
                </a:moveTo>
                <a:lnTo>
                  <a:pt x="10320852" y="0"/>
                </a:lnTo>
                <a:lnTo>
                  <a:pt x="10320852" y="6375413"/>
                </a:lnTo>
                <a:lnTo>
                  <a:pt x="0" y="6375413"/>
                </a:lnTo>
                <a:lnTo>
                  <a:pt x="0" y="0"/>
                </a:lnTo>
                <a:close/>
              </a:path>
            </a:pathLst>
          </a:custGeom>
          <a:blipFill>
            <a:blip r:embed="rId2"/>
            <a:stretch>
              <a:fillRect l="0" t="0" r="0" b="0"/>
            </a:stretch>
          </a:blipFill>
        </p:spPr>
      </p:sp>
      <p:sp>
        <p:nvSpPr>
          <p:cNvPr name="TextBox 9" id="9"/>
          <p:cNvSpPr txBox="true"/>
          <p:nvPr/>
        </p:nvSpPr>
        <p:spPr>
          <a:xfrm rot="0">
            <a:off x="7004235" y="1347033"/>
            <a:ext cx="4279529" cy="655548"/>
          </a:xfrm>
          <a:prstGeom prst="rect">
            <a:avLst/>
          </a:prstGeom>
        </p:spPr>
        <p:txBody>
          <a:bodyPr anchor="t" rtlCol="false" tIns="0" lIns="0" bIns="0" rIns="0">
            <a:spAutoFit/>
          </a:bodyPr>
          <a:lstStyle/>
          <a:p>
            <a:pPr algn="l">
              <a:lnSpc>
                <a:spcPts val="4635"/>
              </a:lnSpc>
            </a:pPr>
            <a:r>
              <a:rPr lang="en-US" sz="4635" b="true">
                <a:solidFill>
                  <a:srgbClr val="0B4B49"/>
                </a:solidFill>
                <a:latin typeface="Poppins Bold"/>
                <a:ea typeface="Poppins Bold"/>
                <a:cs typeface="Poppins Bold"/>
                <a:sym typeface="Poppins Bold"/>
              </a:rPr>
              <a:t>CORRELATION</a:t>
            </a:r>
          </a:p>
        </p:txBody>
      </p:sp>
      <p:sp>
        <p:nvSpPr>
          <p:cNvPr name="TextBox 10" id="10"/>
          <p:cNvSpPr txBox="true"/>
          <p:nvPr/>
        </p:nvSpPr>
        <p:spPr>
          <a:xfrm rot="0">
            <a:off x="0" y="3003359"/>
            <a:ext cx="11055228" cy="385087"/>
          </a:xfrm>
          <a:prstGeom prst="rect">
            <a:avLst/>
          </a:prstGeom>
        </p:spPr>
        <p:txBody>
          <a:bodyPr anchor="t" rtlCol="false" tIns="0" lIns="0" bIns="0" rIns="0">
            <a:spAutoFit/>
          </a:bodyPr>
          <a:lstStyle/>
          <a:p>
            <a:pPr algn="ctr">
              <a:lnSpc>
                <a:spcPts val="2729"/>
              </a:lnSpc>
              <a:spcBef>
                <a:spcPct val="0"/>
              </a:spcBef>
            </a:pPr>
            <a:r>
              <a:rPr lang="en-US" b="true" sz="2551">
                <a:solidFill>
                  <a:srgbClr val="FFFFFF"/>
                </a:solidFill>
                <a:latin typeface="Poppins Semi-Bold"/>
                <a:ea typeface="Poppins Semi-Bold"/>
                <a:cs typeface="Poppins Semi-Bold"/>
                <a:sym typeface="Poppins Semi-Bold"/>
              </a:rPr>
              <a:t>AVERAGE PRODUCTIVITY BY SCREEN TIME</a:t>
            </a:r>
          </a:p>
        </p:txBody>
      </p:sp>
      <p:sp>
        <p:nvSpPr>
          <p:cNvPr name="TextBox 11" id="11"/>
          <p:cNvSpPr txBox="true"/>
          <p:nvPr/>
        </p:nvSpPr>
        <p:spPr>
          <a:xfrm rot="0">
            <a:off x="12719218" y="6024859"/>
            <a:ext cx="5113195" cy="728053"/>
          </a:xfrm>
          <a:prstGeom prst="rect">
            <a:avLst/>
          </a:prstGeom>
        </p:spPr>
        <p:txBody>
          <a:bodyPr anchor="t" rtlCol="false" tIns="0" lIns="0" bIns="0" rIns="0">
            <a:spAutoFit/>
          </a:bodyPr>
          <a:lstStyle/>
          <a:p>
            <a:pPr algn="ctr">
              <a:lnSpc>
                <a:spcPts val="2729"/>
              </a:lnSpc>
            </a:pPr>
            <a:r>
              <a:rPr lang="en-US" sz="2551" b="true">
                <a:solidFill>
                  <a:srgbClr val="FFFFFF"/>
                </a:solidFill>
                <a:latin typeface="Poppins Semi-Bold"/>
                <a:ea typeface="Poppins Semi-Bold"/>
                <a:cs typeface="Poppins Semi-Bold"/>
                <a:sym typeface="Poppins Semi-Bold"/>
              </a:rPr>
              <a:t>Screen Time vs Productivity:</a:t>
            </a:r>
          </a:p>
          <a:p>
            <a:pPr algn="ctr">
              <a:lnSpc>
                <a:spcPts val="2729"/>
              </a:lnSpc>
              <a:spcBef>
                <a:spcPct val="0"/>
              </a:spcBef>
            </a:pPr>
            <a:r>
              <a:rPr lang="en-US" b="true" sz="2551">
                <a:solidFill>
                  <a:srgbClr val="FFFFFF"/>
                </a:solidFill>
                <a:latin typeface="Poppins Semi-Bold"/>
                <a:ea typeface="Poppins Semi-Bold"/>
                <a:cs typeface="Poppins Semi-Bold"/>
                <a:sym typeface="Poppins Semi-Bold"/>
              </a:rPr>
              <a:t> r=-0.307, p=0.0169</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5400000">
            <a:off x="6841973" y="-10060106"/>
            <a:ext cx="5517710" cy="19721358"/>
            <a:chOff x="0" y="0"/>
            <a:chExt cx="1453224" cy="5194103"/>
          </a:xfrm>
        </p:grpSpPr>
        <p:sp>
          <p:nvSpPr>
            <p:cNvPr name="Freeform 3" id="3"/>
            <p:cNvSpPr/>
            <p:nvPr/>
          </p:nvSpPr>
          <p:spPr>
            <a:xfrm flipH="false" flipV="false" rot="0">
              <a:off x="0" y="0"/>
              <a:ext cx="1453224" cy="5194103"/>
            </a:xfrm>
            <a:custGeom>
              <a:avLst/>
              <a:gdLst/>
              <a:ahLst/>
              <a:cxnLst/>
              <a:rect r="r" b="b" t="t" l="l"/>
              <a:pathLst>
                <a:path h="5194103" w="1453224">
                  <a:moveTo>
                    <a:pt x="0" y="0"/>
                  </a:moveTo>
                  <a:lnTo>
                    <a:pt x="1453224" y="0"/>
                  </a:lnTo>
                  <a:lnTo>
                    <a:pt x="1453224" y="5194103"/>
                  </a:lnTo>
                  <a:lnTo>
                    <a:pt x="0" y="5194103"/>
                  </a:lnTo>
                  <a:close/>
                </a:path>
              </a:pathLst>
            </a:custGeom>
            <a:solidFill>
              <a:srgbClr val="FFFFFF"/>
            </a:solidFill>
          </p:spPr>
        </p:sp>
        <p:sp>
          <p:nvSpPr>
            <p:cNvPr name="TextBox 4" id="4"/>
            <p:cNvSpPr txBox="true"/>
            <p:nvPr/>
          </p:nvSpPr>
          <p:spPr>
            <a:xfrm>
              <a:off x="0" y="0"/>
              <a:ext cx="1453224" cy="5194103"/>
            </a:xfrm>
            <a:prstGeom prst="rect">
              <a:avLst/>
            </a:prstGeom>
          </p:spPr>
          <p:txBody>
            <a:bodyPr anchor="ctr" rtlCol="false" tIns="50800" lIns="50800" bIns="50800" rIns="50800"/>
            <a:lstStyle/>
            <a:p>
              <a:pPr algn="ctr">
                <a:lnSpc>
                  <a:spcPts val="2729"/>
                </a:lnSpc>
              </a:pPr>
            </a:p>
          </p:txBody>
        </p:sp>
      </p:grpSp>
      <p:grpSp>
        <p:nvGrpSpPr>
          <p:cNvPr name="Group 5" id="5"/>
          <p:cNvGrpSpPr/>
          <p:nvPr/>
        </p:nvGrpSpPr>
        <p:grpSpPr>
          <a:xfrm rot="-5400000">
            <a:off x="9023919" y="-6689256"/>
            <a:ext cx="240163" cy="18497367"/>
            <a:chOff x="0" y="0"/>
            <a:chExt cx="63253" cy="4871735"/>
          </a:xfrm>
        </p:grpSpPr>
        <p:sp>
          <p:nvSpPr>
            <p:cNvPr name="Freeform 6" id="6"/>
            <p:cNvSpPr/>
            <p:nvPr/>
          </p:nvSpPr>
          <p:spPr>
            <a:xfrm flipH="false" flipV="false" rot="0">
              <a:off x="0" y="0"/>
              <a:ext cx="63253" cy="4871734"/>
            </a:xfrm>
            <a:custGeom>
              <a:avLst/>
              <a:gdLst/>
              <a:ahLst/>
              <a:cxnLst/>
              <a:rect r="r" b="b" t="t" l="l"/>
              <a:pathLst>
                <a:path h="4871734" w="63253">
                  <a:moveTo>
                    <a:pt x="0" y="0"/>
                  </a:moveTo>
                  <a:lnTo>
                    <a:pt x="63253" y="0"/>
                  </a:lnTo>
                  <a:lnTo>
                    <a:pt x="63253" y="4871734"/>
                  </a:lnTo>
                  <a:lnTo>
                    <a:pt x="0" y="4871734"/>
                  </a:lnTo>
                  <a:close/>
                </a:path>
              </a:pathLst>
            </a:custGeom>
            <a:gradFill rotWithShape="true">
              <a:gsLst>
                <a:gs pos="0">
                  <a:srgbClr val="0A3F3A">
                    <a:alpha val="100000"/>
                  </a:srgbClr>
                </a:gs>
                <a:gs pos="50000">
                  <a:srgbClr val="116E71">
                    <a:alpha val="100000"/>
                  </a:srgbClr>
                </a:gs>
                <a:gs pos="100000">
                  <a:srgbClr val="43D8C6">
                    <a:alpha val="100000"/>
                  </a:srgbClr>
                </a:gs>
              </a:gsLst>
              <a:path path="circle">
                <a:fillToRect l="0" r="100000" t="0" b="100000"/>
              </a:path>
              <a:tileRect r="0" l="-100000" b="0" t="-100000"/>
            </a:gradFill>
          </p:spPr>
        </p:sp>
        <p:sp>
          <p:nvSpPr>
            <p:cNvPr name="TextBox 7" id="7"/>
            <p:cNvSpPr txBox="true"/>
            <p:nvPr/>
          </p:nvSpPr>
          <p:spPr>
            <a:xfrm>
              <a:off x="0" y="0"/>
              <a:ext cx="63253" cy="4871735"/>
            </a:xfrm>
            <a:prstGeom prst="rect">
              <a:avLst/>
            </a:prstGeom>
          </p:spPr>
          <p:txBody>
            <a:bodyPr anchor="ctr" rtlCol="false" tIns="50800" lIns="50800" bIns="50800" rIns="50800"/>
            <a:lstStyle/>
            <a:p>
              <a:pPr algn="ctr">
                <a:lnSpc>
                  <a:spcPts val="2729"/>
                </a:lnSpc>
              </a:pPr>
            </a:p>
          </p:txBody>
        </p:sp>
      </p:grpSp>
      <p:sp>
        <p:nvSpPr>
          <p:cNvPr name="Freeform 8" id="8"/>
          <p:cNvSpPr/>
          <p:nvPr/>
        </p:nvSpPr>
        <p:spPr>
          <a:xfrm flipH="false" flipV="false" rot="0">
            <a:off x="1060865" y="3285962"/>
            <a:ext cx="8083135" cy="5718200"/>
          </a:xfrm>
          <a:custGeom>
            <a:avLst/>
            <a:gdLst/>
            <a:ahLst/>
            <a:cxnLst/>
            <a:rect r="r" b="b" t="t" l="l"/>
            <a:pathLst>
              <a:path h="5718200" w="8083135">
                <a:moveTo>
                  <a:pt x="0" y="0"/>
                </a:moveTo>
                <a:lnTo>
                  <a:pt x="8083135" y="0"/>
                </a:lnTo>
                <a:lnTo>
                  <a:pt x="8083135" y="5718201"/>
                </a:lnTo>
                <a:lnTo>
                  <a:pt x="0" y="5718201"/>
                </a:lnTo>
                <a:lnTo>
                  <a:pt x="0" y="0"/>
                </a:lnTo>
                <a:close/>
              </a:path>
            </a:pathLst>
          </a:custGeom>
          <a:blipFill>
            <a:blip r:embed="rId2"/>
            <a:stretch>
              <a:fillRect l="0" t="0" r="0" b="0"/>
            </a:stretch>
          </a:blipFill>
        </p:spPr>
      </p:sp>
      <p:sp>
        <p:nvSpPr>
          <p:cNvPr name="Freeform 9" id="9"/>
          <p:cNvSpPr/>
          <p:nvPr/>
        </p:nvSpPr>
        <p:spPr>
          <a:xfrm flipH="false" flipV="false" rot="0">
            <a:off x="10275165" y="5684141"/>
            <a:ext cx="6984135" cy="921843"/>
          </a:xfrm>
          <a:custGeom>
            <a:avLst/>
            <a:gdLst/>
            <a:ahLst/>
            <a:cxnLst/>
            <a:rect r="r" b="b" t="t" l="l"/>
            <a:pathLst>
              <a:path h="921843" w="6984135">
                <a:moveTo>
                  <a:pt x="0" y="0"/>
                </a:moveTo>
                <a:lnTo>
                  <a:pt x="6984135" y="0"/>
                </a:lnTo>
                <a:lnTo>
                  <a:pt x="6984135" y="921843"/>
                </a:lnTo>
                <a:lnTo>
                  <a:pt x="0" y="921843"/>
                </a:lnTo>
                <a:lnTo>
                  <a:pt x="0" y="0"/>
                </a:lnTo>
                <a:close/>
              </a:path>
            </a:pathLst>
          </a:custGeom>
          <a:blipFill>
            <a:blip r:embed="rId3"/>
            <a:stretch>
              <a:fillRect l="0" t="0" r="0" b="0"/>
            </a:stretch>
          </a:blipFill>
        </p:spPr>
      </p:sp>
      <p:sp>
        <p:nvSpPr>
          <p:cNvPr name="TextBox 10" id="10"/>
          <p:cNvSpPr txBox="true"/>
          <p:nvPr/>
        </p:nvSpPr>
        <p:spPr>
          <a:xfrm rot="0">
            <a:off x="4205559" y="1459948"/>
            <a:ext cx="9876881" cy="655548"/>
          </a:xfrm>
          <a:prstGeom prst="rect">
            <a:avLst/>
          </a:prstGeom>
        </p:spPr>
        <p:txBody>
          <a:bodyPr anchor="t" rtlCol="false" tIns="0" lIns="0" bIns="0" rIns="0">
            <a:spAutoFit/>
          </a:bodyPr>
          <a:lstStyle/>
          <a:p>
            <a:pPr algn="l">
              <a:lnSpc>
                <a:spcPts val="4635"/>
              </a:lnSpc>
            </a:pPr>
            <a:r>
              <a:rPr lang="en-US" sz="4635" b="true">
                <a:solidFill>
                  <a:srgbClr val="0B4B49"/>
                </a:solidFill>
                <a:latin typeface="Poppins Bold"/>
                <a:ea typeface="Poppins Bold"/>
                <a:cs typeface="Poppins Bold"/>
                <a:sym typeface="Poppins Bold"/>
              </a:rPr>
              <a:t>T-TEST: WORK OUT VS REST DAYS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5400000">
            <a:off x="6841973" y="-10060106"/>
            <a:ext cx="5517710" cy="19721358"/>
            <a:chOff x="0" y="0"/>
            <a:chExt cx="1453224" cy="5194103"/>
          </a:xfrm>
        </p:grpSpPr>
        <p:sp>
          <p:nvSpPr>
            <p:cNvPr name="Freeform 3" id="3"/>
            <p:cNvSpPr/>
            <p:nvPr/>
          </p:nvSpPr>
          <p:spPr>
            <a:xfrm flipH="false" flipV="false" rot="0">
              <a:off x="0" y="0"/>
              <a:ext cx="1453224" cy="5194103"/>
            </a:xfrm>
            <a:custGeom>
              <a:avLst/>
              <a:gdLst/>
              <a:ahLst/>
              <a:cxnLst/>
              <a:rect r="r" b="b" t="t" l="l"/>
              <a:pathLst>
                <a:path h="5194103" w="1453224">
                  <a:moveTo>
                    <a:pt x="0" y="0"/>
                  </a:moveTo>
                  <a:lnTo>
                    <a:pt x="1453224" y="0"/>
                  </a:lnTo>
                  <a:lnTo>
                    <a:pt x="1453224" y="5194103"/>
                  </a:lnTo>
                  <a:lnTo>
                    <a:pt x="0" y="5194103"/>
                  </a:lnTo>
                  <a:close/>
                </a:path>
              </a:pathLst>
            </a:custGeom>
            <a:solidFill>
              <a:srgbClr val="FFFFFF"/>
            </a:solidFill>
          </p:spPr>
        </p:sp>
        <p:sp>
          <p:nvSpPr>
            <p:cNvPr name="TextBox 4" id="4"/>
            <p:cNvSpPr txBox="true"/>
            <p:nvPr/>
          </p:nvSpPr>
          <p:spPr>
            <a:xfrm>
              <a:off x="0" y="0"/>
              <a:ext cx="1453224" cy="5194103"/>
            </a:xfrm>
            <a:prstGeom prst="rect">
              <a:avLst/>
            </a:prstGeom>
          </p:spPr>
          <p:txBody>
            <a:bodyPr anchor="ctr" rtlCol="false" tIns="50800" lIns="50800" bIns="50800" rIns="50800"/>
            <a:lstStyle/>
            <a:p>
              <a:pPr algn="ctr">
                <a:lnSpc>
                  <a:spcPts val="2729"/>
                </a:lnSpc>
              </a:pPr>
            </a:p>
          </p:txBody>
        </p:sp>
      </p:grpSp>
      <p:grpSp>
        <p:nvGrpSpPr>
          <p:cNvPr name="Group 5" id="5"/>
          <p:cNvGrpSpPr/>
          <p:nvPr/>
        </p:nvGrpSpPr>
        <p:grpSpPr>
          <a:xfrm rot="-5400000">
            <a:off x="9023919" y="-6689256"/>
            <a:ext cx="240163" cy="18497367"/>
            <a:chOff x="0" y="0"/>
            <a:chExt cx="63253" cy="4871735"/>
          </a:xfrm>
        </p:grpSpPr>
        <p:sp>
          <p:nvSpPr>
            <p:cNvPr name="Freeform 6" id="6"/>
            <p:cNvSpPr/>
            <p:nvPr/>
          </p:nvSpPr>
          <p:spPr>
            <a:xfrm flipH="false" flipV="false" rot="0">
              <a:off x="0" y="0"/>
              <a:ext cx="63253" cy="4871734"/>
            </a:xfrm>
            <a:custGeom>
              <a:avLst/>
              <a:gdLst/>
              <a:ahLst/>
              <a:cxnLst/>
              <a:rect r="r" b="b" t="t" l="l"/>
              <a:pathLst>
                <a:path h="4871734" w="63253">
                  <a:moveTo>
                    <a:pt x="0" y="0"/>
                  </a:moveTo>
                  <a:lnTo>
                    <a:pt x="63253" y="0"/>
                  </a:lnTo>
                  <a:lnTo>
                    <a:pt x="63253" y="4871734"/>
                  </a:lnTo>
                  <a:lnTo>
                    <a:pt x="0" y="4871734"/>
                  </a:lnTo>
                  <a:close/>
                </a:path>
              </a:pathLst>
            </a:custGeom>
            <a:gradFill rotWithShape="true">
              <a:gsLst>
                <a:gs pos="0">
                  <a:srgbClr val="0A3F3A">
                    <a:alpha val="100000"/>
                  </a:srgbClr>
                </a:gs>
                <a:gs pos="50000">
                  <a:srgbClr val="116E71">
                    <a:alpha val="100000"/>
                  </a:srgbClr>
                </a:gs>
                <a:gs pos="100000">
                  <a:srgbClr val="43D8C6">
                    <a:alpha val="100000"/>
                  </a:srgbClr>
                </a:gs>
              </a:gsLst>
              <a:path path="circle">
                <a:fillToRect l="0" r="100000" t="0" b="100000"/>
              </a:path>
              <a:tileRect r="0" l="-100000" b="0" t="-100000"/>
            </a:gradFill>
          </p:spPr>
        </p:sp>
        <p:sp>
          <p:nvSpPr>
            <p:cNvPr name="TextBox 7" id="7"/>
            <p:cNvSpPr txBox="true"/>
            <p:nvPr/>
          </p:nvSpPr>
          <p:spPr>
            <a:xfrm>
              <a:off x="0" y="0"/>
              <a:ext cx="63253" cy="4871735"/>
            </a:xfrm>
            <a:prstGeom prst="rect">
              <a:avLst/>
            </a:prstGeom>
          </p:spPr>
          <p:txBody>
            <a:bodyPr anchor="ctr" rtlCol="false" tIns="50800" lIns="50800" bIns="50800" rIns="50800"/>
            <a:lstStyle/>
            <a:p>
              <a:pPr algn="ctr">
                <a:lnSpc>
                  <a:spcPts val="2729"/>
                </a:lnSpc>
              </a:pPr>
            </a:p>
          </p:txBody>
        </p:sp>
      </p:grpSp>
      <p:sp>
        <p:nvSpPr>
          <p:cNvPr name="Freeform 8" id="8"/>
          <p:cNvSpPr/>
          <p:nvPr/>
        </p:nvSpPr>
        <p:spPr>
          <a:xfrm flipH="false" flipV="false" rot="0">
            <a:off x="10973974" y="5958322"/>
            <a:ext cx="6285326" cy="684458"/>
          </a:xfrm>
          <a:custGeom>
            <a:avLst/>
            <a:gdLst/>
            <a:ahLst/>
            <a:cxnLst/>
            <a:rect r="r" b="b" t="t" l="l"/>
            <a:pathLst>
              <a:path h="684458" w="6285326">
                <a:moveTo>
                  <a:pt x="0" y="0"/>
                </a:moveTo>
                <a:lnTo>
                  <a:pt x="6285326" y="0"/>
                </a:lnTo>
                <a:lnTo>
                  <a:pt x="6285326" y="684458"/>
                </a:lnTo>
                <a:lnTo>
                  <a:pt x="0" y="684458"/>
                </a:lnTo>
                <a:lnTo>
                  <a:pt x="0" y="0"/>
                </a:lnTo>
                <a:close/>
              </a:path>
            </a:pathLst>
          </a:custGeom>
          <a:blipFill>
            <a:blip r:embed="rId2"/>
            <a:stretch>
              <a:fillRect l="0" t="-404647" r="0" b="0"/>
            </a:stretch>
          </a:blipFill>
        </p:spPr>
      </p:sp>
      <p:graphicFrame>
        <p:nvGraphicFramePr>
          <p:cNvPr name="Table 9" id="9"/>
          <p:cNvGraphicFramePr>
            <a:graphicFrameLocks noGrp="true"/>
          </p:cNvGraphicFramePr>
          <p:nvPr/>
        </p:nvGraphicFramePr>
        <p:xfrm>
          <a:off x="1828800" y="3265749"/>
          <a:ext cx="7315200" cy="6267450"/>
        </p:xfrm>
        <a:graphic>
          <a:graphicData uri="http://schemas.openxmlformats.org/drawingml/2006/table">
            <a:tbl>
              <a:tblPr/>
              <a:tblGrid>
                <a:gridCol w="3657600"/>
                <a:gridCol w="3657600"/>
              </a:tblGrid>
              <a:tr h="1044575">
                <a:tc>
                  <a:txBody>
                    <a:bodyPr anchor="t" rtlCol="false"/>
                    <a:lstStyle/>
                    <a:p>
                      <a:pPr algn="ctr">
                        <a:lnSpc>
                          <a:spcPts val="2100"/>
                        </a:lnSpc>
                        <a:defRPr/>
                      </a:pPr>
                      <a:r>
                        <a:rPr lang="en-US" sz="1500" b="true">
                          <a:solidFill>
                            <a:srgbClr val="FFFFFF"/>
                          </a:solidFill>
                          <a:latin typeface="Poppins Bold"/>
                          <a:ea typeface="Poppins Bold"/>
                          <a:cs typeface="Poppins Bold"/>
                          <a:sym typeface="Poppins Bold"/>
                        </a:rPr>
                        <a:t>Variable</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000000"/>
                    </a:solidFill>
                  </a:tcPr>
                </a:tc>
                <a:tc>
                  <a:txBody>
                    <a:bodyPr anchor="t" rtlCol="false"/>
                    <a:lstStyle/>
                    <a:p>
                      <a:pPr algn="ctr">
                        <a:lnSpc>
                          <a:spcPts val="2100"/>
                        </a:lnSpc>
                        <a:defRPr/>
                      </a:pPr>
                      <a:r>
                        <a:rPr lang="en-US" sz="1500" b="true">
                          <a:solidFill>
                            <a:srgbClr val="FFFFFF"/>
                          </a:solidFill>
                          <a:latin typeface="Poppins Bold"/>
                          <a:ea typeface="Poppins Bold"/>
                          <a:cs typeface="Poppins Bold"/>
                          <a:sym typeface="Poppins Bold"/>
                        </a:rPr>
                        <a:t>Coefficient</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000000"/>
                    </a:solidFill>
                  </a:tcPr>
                </a:tc>
              </a:tr>
              <a:tr h="1044575">
                <a:tc>
                  <a:txBody>
                    <a:bodyPr anchor="t" rtlCol="false"/>
                    <a:lstStyle/>
                    <a:p>
                      <a:pPr algn="ctr">
                        <a:lnSpc>
                          <a:spcPts val="2100"/>
                        </a:lnSpc>
                        <a:defRPr/>
                      </a:pPr>
                      <a:r>
                        <a:rPr lang="en-US" sz="1500">
                          <a:solidFill>
                            <a:srgbClr val="FFFFFF"/>
                          </a:solidFill>
                          <a:latin typeface="Poppins"/>
                          <a:ea typeface="Poppins"/>
                          <a:cs typeface="Poppins"/>
                          <a:sym typeface="Poppins"/>
                        </a:rPr>
                        <a:t>Intercept</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000000"/>
                    </a:solidFill>
                  </a:tcPr>
                </a:tc>
                <a:tc>
                  <a:txBody>
                    <a:bodyPr anchor="t" rtlCol="false"/>
                    <a:lstStyle/>
                    <a:p>
                      <a:pPr algn="ctr">
                        <a:lnSpc>
                          <a:spcPts val="2100"/>
                        </a:lnSpc>
                        <a:defRPr/>
                      </a:pPr>
                      <a:r>
                        <a:rPr lang="en-US" sz="1500">
                          <a:solidFill>
                            <a:srgbClr val="FFFFFF"/>
                          </a:solidFill>
                          <a:latin typeface="Poppins"/>
                          <a:ea typeface="Poppins"/>
                          <a:cs typeface="Poppins"/>
                          <a:sym typeface="Poppins"/>
                        </a:rPr>
                        <a:t>1.531</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000000"/>
                    </a:solidFill>
                  </a:tcPr>
                </a:tc>
              </a:tr>
              <a:tr h="1044575">
                <a:tc>
                  <a:txBody>
                    <a:bodyPr anchor="t" rtlCol="false"/>
                    <a:lstStyle/>
                    <a:p>
                      <a:pPr algn="ctr">
                        <a:lnSpc>
                          <a:spcPts val="2100"/>
                        </a:lnSpc>
                        <a:defRPr/>
                      </a:pPr>
                      <a:r>
                        <a:rPr lang="en-US" sz="1500">
                          <a:solidFill>
                            <a:srgbClr val="FFFFFF"/>
                          </a:solidFill>
                          <a:latin typeface="Poppins"/>
                          <a:ea typeface="Poppins"/>
                          <a:cs typeface="Poppins"/>
                          <a:sym typeface="Poppins"/>
                        </a:rPr>
                        <a:t>Workout Day</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000000"/>
                    </a:solidFill>
                  </a:tcPr>
                </a:tc>
                <a:tc>
                  <a:txBody>
                    <a:bodyPr anchor="t" rtlCol="false"/>
                    <a:lstStyle/>
                    <a:p>
                      <a:pPr algn="ctr">
                        <a:lnSpc>
                          <a:spcPts val="2100"/>
                        </a:lnSpc>
                        <a:defRPr/>
                      </a:pPr>
                      <a:r>
                        <a:rPr lang="en-US" sz="1500">
                          <a:solidFill>
                            <a:srgbClr val="FFFFFF"/>
                          </a:solidFill>
                          <a:latin typeface="Poppins"/>
                          <a:ea typeface="Poppins"/>
                          <a:cs typeface="Poppins"/>
                          <a:sym typeface="Poppins"/>
                        </a:rPr>
                        <a:t>0.255</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000000"/>
                    </a:solidFill>
                  </a:tcPr>
                </a:tc>
              </a:tr>
              <a:tr h="1044575">
                <a:tc>
                  <a:txBody>
                    <a:bodyPr anchor="t" rtlCol="false"/>
                    <a:lstStyle/>
                    <a:p>
                      <a:pPr algn="ctr">
                        <a:lnSpc>
                          <a:spcPts val="2100"/>
                        </a:lnSpc>
                        <a:defRPr/>
                      </a:pPr>
                      <a:r>
                        <a:rPr lang="en-US" sz="1500">
                          <a:solidFill>
                            <a:srgbClr val="FFFFFF"/>
                          </a:solidFill>
                          <a:latin typeface="Poppins"/>
                          <a:ea typeface="Poppins"/>
                          <a:cs typeface="Poppins"/>
                          <a:sym typeface="Poppins"/>
                        </a:rPr>
                        <a:t>Intensity</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000000"/>
                    </a:solidFill>
                  </a:tcPr>
                </a:tc>
                <a:tc>
                  <a:txBody>
                    <a:bodyPr anchor="t" rtlCol="false"/>
                    <a:lstStyle/>
                    <a:p>
                      <a:pPr algn="ctr">
                        <a:lnSpc>
                          <a:spcPts val="2100"/>
                        </a:lnSpc>
                        <a:defRPr/>
                      </a:pPr>
                      <a:r>
                        <a:rPr lang="en-US" sz="1500">
                          <a:solidFill>
                            <a:srgbClr val="FFFFFF"/>
                          </a:solidFill>
                          <a:latin typeface="Poppins"/>
                          <a:ea typeface="Poppins"/>
                          <a:cs typeface="Poppins"/>
                          <a:sym typeface="Poppins"/>
                        </a:rPr>
                        <a:t>0.061</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000000"/>
                    </a:solidFill>
                  </a:tcPr>
                </a:tc>
              </a:tr>
              <a:tr h="1044575">
                <a:tc>
                  <a:txBody>
                    <a:bodyPr anchor="t" rtlCol="false"/>
                    <a:lstStyle/>
                    <a:p>
                      <a:pPr algn="ctr">
                        <a:lnSpc>
                          <a:spcPts val="2100"/>
                        </a:lnSpc>
                        <a:defRPr/>
                      </a:pPr>
                      <a:r>
                        <a:rPr lang="en-US" sz="1500">
                          <a:solidFill>
                            <a:srgbClr val="FFFFFF"/>
                          </a:solidFill>
                          <a:latin typeface="Poppins"/>
                          <a:ea typeface="Poppins"/>
                          <a:cs typeface="Poppins"/>
                          <a:sym typeface="Poppins"/>
                        </a:rPr>
                        <a:t>Sleep Duration</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000000"/>
                    </a:solidFill>
                  </a:tcPr>
                </a:tc>
                <a:tc>
                  <a:txBody>
                    <a:bodyPr anchor="t" rtlCol="false"/>
                    <a:lstStyle/>
                    <a:p>
                      <a:pPr algn="ctr">
                        <a:lnSpc>
                          <a:spcPts val="2100"/>
                        </a:lnSpc>
                        <a:defRPr/>
                      </a:pPr>
                      <a:r>
                        <a:rPr lang="en-US" sz="1500">
                          <a:solidFill>
                            <a:srgbClr val="FFFFFF"/>
                          </a:solidFill>
                          <a:latin typeface="Poppins"/>
                          <a:ea typeface="Poppins"/>
                          <a:cs typeface="Poppins"/>
                          <a:sym typeface="Poppins"/>
                        </a:rPr>
                        <a:t>0.303</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000000"/>
                    </a:solidFill>
                  </a:tcPr>
                </a:tc>
              </a:tr>
              <a:tr h="1044575">
                <a:tc>
                  <a:txBody>
                    <a:bodyPr anchor="t" rtlCol="false"/>
                    <a:lstStyle/>
                    <a:p>
                      <a:pPr algn="ctr">
                        <a:lnSpc>
                          <a:spcPts val="2100"/>
                        </a:lnSpc>
                        <a:defRPr/>
                      </a:pPr>
                      <a:r>
                        <a:rPr lang="en-US" sz="1500">
                          <a:solidFill>
                            <a:srgbClr val="FFFFFF"/>
                          </a:solidFill>
                          <a:latin typeface="Poppins"/>
                          <a:ea typeface="Poppins"/>
                          <a:cs typeface="Poppins"/>
                          <a:sym typeface="Poppins"/>
                        </a:rPr>
                        <a:t>Screen Time </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000000"/>
                    </a:solidFill>
                  </a:tcPr>
                </a:tc>
                <a:tc>
                  <a:txBody>
                    <a:bodyPr anchor="t" rtlCol="false"/>
                    <a:lstStyle/>
                    <a:p>
                      <a:pPr algn="ctr">
                        <a:lnSpc>
                          <a:spcPts val="2100"/>
                        </a:lnSpc>
                        <a:defRPr/>
                      </a:pPr>
                      <a:r>
                        <a:rPr lang="en-US" sz="1500">
                          <a:solidFill>
                            <a:srgbClr val="FFFFFF"/>
                          </a:solidFill>
                          <a:latin typeface="Poppins"/>
                          <a:ea typeface="Poppins"/>
                          <a:cs typeface="Poppins"/>
                          <a:sym typeface="Poppins"/>
                        </a:rPr>
                        <a:t>-0.069</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000000"/>
                    </a:solidFill>
                  </a:tcPr>
                </a:tc>
              </a:tr>
            </a:tbl>
          </a:graphicData>
        </a:graphic>
      </p:graphicFrame>
      <p:sp>
        <p:nvSpPr>
          <p:cNvPr name="TextBox 10" id="10"/>
          <p:cNvSpPr txBox="true"/>
          <p:nvPr/>
        </p:nvSpPr>
        <p:spPr>
          <a:xfrm rot="0">
            <a:off x="3719083" y="1459948"/>
            <a:ext cx="11763490" cy="655548"/>
          </a:xfrm>
          <a:prstGeom prst="rect">
            <a:avLst/>
          </a:prstGeom>
        </p:spPr>
        <p:txBody>
          <a:bodyPr anchor="t" rtlCol="false" tIns="0" lIns="0" bIns="0" rIns="0">
            <a:spAutoFit/>
          </a:bodyPr>
          <a:lstStyle/>
          <a:p>
            <a:pPr algn="l">
              <a:lnSpc>
                <a:spcPts val="4635"/>
              </a:lnSpc>
            </a:pPr>
            <a:r>
              <a:rPr lang="en-US" sz="4635" b="true">
                <a:solidFill>
                  <a:srgbClr val="0B4B49"/>
                </a:solidFill>
                <a:latin typeface="Poppins Bold"/>
                <a:ea typeface="Poppins Bold"/>
                <a:cs typeface="Poppins Bold"/>
                <a:sym typeface="Poppins Bold"/>
              </a:rPr>
              <a:t>REGRESSION RESULT FOR PRODUCTIVITY</a:t>
            </a:r>
          </a:p>
        </p:txBody>
      </p:sp>
    </p:spTree>
  </p:cSld>
  <p:clrMapOvr>
    <a:masterClrMapping/>
  </p:clrMapOvr>
</p:sld>
</file>

<file path=ppt/slides/slide15.xml><?xml version="1.0" encoding="utf-8"?>
<p:sld xmlns:p="http://schemas.openxmlformats.org/presentationml/2006/main" xmlns:a="http://schemas.openxmlformats.org/drawingml/2006/main">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6807932" y="1718378"/>
            <a:ext cx="4672136" cy="1281758"/>
          </a:xfrm>
          <a:prstGeom prst="rect">
            <a:avLst/>
          </a:prstGeom>
        </p:spPr>
        <p:txBody>
          <a:bodyPr anchor="t" rtlCol="false" tIns="0" lIns="0" bIns="0" rIns="0">
            <a:spAutoFit/>
          </a:bodyPr>
          <a:lstStyle/>
          <a:p>
            <a:pPr algn="l">
              <a:lnSpc>
                <a:spcPts val="9687"/>
              </a:lnSpc>
            </a:pPr>
            <a:r>
              <a:rPr lang="en-US" sz="7750" b="true">
                <a:solidFill>
                  <a:srgbClr val="FFFFFF"/>
                </a:solidFill>
                <a:latin typeface="Poppins Bold"/>
                <a:ea typeface="Poppins Bold"/>
                <a:cs typeface="Poppins Bold"/>
                <a:sym typeface="Poppins Bold"/>
              </a:rPr>
              <a:t>INSIGHTS</a:t>
            </a:r>
          </a:p>
        </p:txBody>
      </p:sp>
      <p:sp>
        <p:nvSpPr>
          <p:cNvPr name="TextBox 3" id="3"/>
          <p:cNvSpPr txBox="true"/>
          <p:nvPr/>
        </p:nvSpPr>
        <p:spPr>
          <a:xfrm rot="0">
            <a:off x="2040515" y="3931897"/>
            <a:ext cx="14206970" cy="3254503"/>
          </a:xfrm>
          <a:prstGeom prst="rect">
            <a:avLst/>
          </a:prstGeom>
        </p:spPr>
        <p:txBody>
          <a:bodyPr anchor="t" rtlCol="false" tIns="0" lIns="0" bIns="0" rIns="0">
            <a:spAutoFit/>
          </a:bodyPr>
          <a:lstStyle/>
          <a:p>
            <a:pPr algn="just" marL="799879" indent="-399940" lvl="1">
              <a:lnSpc>
                <a:spcPts val="5186"/>
              </a:lnSpc>
              <a:buFont typeface="Arial"/>
              <a:buChar char="•"/>
            </a:pPr>
            <a:r>
              <a:rPr lang="en-US" sz="3704">
                <a:solidFill>
                  <a:srgbClr val="FFFFFF"/>
                </a:solidFill>
                <a:latin typeface="Poppins"/>
                <a:ea typeface="Poppins"/>
                <a:cs typeface="Poppins"/>
                <a:sym typeface="Poppins"/>
              </a:rPr>
              <a:t>Late-night training does not impair productivity.</a:t>
            </a:r>
          </a:p>
          <a:p>
            <a:pPr algn="just">
              <a:lnSpc>
                <a:spcPts val="5186"/>
              </a:lnSpc>
            </a:pPr>
          </a:p>
          <a:p>
            <a:pPr algn="just" marL="799879" indent="-399940" lvl="1">
              <a:lnSpc>
                <a:spcPts val="5186"/>
              </a:lnSpc>
              <a:buFont typeface="Arial"/>
              <a:buChar char="•"/>
            </a:pPr>
            <a:r>
              <a:rPr lang="en-US" sz="3704">
                <a:solidFill>
                  <a:srgbClr val="FFFFFF"/>
                </a:solidFill>
                <a:latin typeface="Poppins"/>
                <a:ea typeface="Poppins"/>
                <a:cs typeface="Poppins"/>
                <a:sym typeface="Poppins"/>
              </a:rPr>
              <a:t>Intensity strongest postive contributor</a:t>
            </a:r>
          </a:p>
          <a:p>
            <a:pPr algn="just">
              <a:lnSpc>
                <a:spcPts val="5186"/>
              </a:lnSpc>
            </a:pPr>
          </a:p>
          <a:p>
            <a:pPr algn="just" marL="799879" indent="-399940" lvl="1">
              <a:lnSpc>
                <a:spcPts val="5186"/>
              </a:lnSpc>
              <a:buFont typeface="Arial"/>
              <a:buChar char="•"/>
            </a:pPr>
            <a:r>
              <a:rPr lang="en-US" sz="3704">
                <a:solidFill>
                  <a:srgbClr val="FFFFFF"/>
                </a:solidFill>
                <a:latin typeface="Poppins"/>
                <a:ea typeface="Poppins"/>
                <a:cs typeface="Poppins"/>
                <a:sym typeface="Poppins"/>
              </a:rPr>
              <a:t>Behavorial analytics provides actionalbe insights</a:t>
            </a:r>
          </a:p>
        </p:txBody>
      </p:sp>
    </p:spTree>
  </p:cSld>
  <p:clrMapOvr>
    <a:masterClrMapping/>
  </p:clrMapOvr>
</p:sld>
</file>

<file path=ppt/slides/slide16.xml><?xml version="1.0" encoding="utf-8"?>
<p:sld xmlns:p="http://schemas.openxmlformats.org/presentationml/2006/main" xmlns:a="http://schemas.openxmlformats.org/drawingml/2006/main">
  <p:cSld>
    <p:bg>
      <p:bgPr>
        <a:gradFill rotWithShape="true">
          <a:gsLst>
            <a:gs pos="0">
              <a:srgbClr val="2D8A8D">
                <a:alpha val="100000"/>
              </a:srgbClr>
            </a:gs>
            <a:gs pos="50000">
              <a:srgbClr val="0A3F3A">
                <a:alpha val="100000"/>
              </a:srgbClr>
            </a:gs>
            <a:gs pos="100000">
              <a:srgbClr val="2BA697">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TextBox 2" id="2"/>
          <p:cNvSpPr txBox="true"/>
          <p:nvPr/>
        </p:nvSpPr>
        <p:spPr>
          <a:xfrm rot="0">
            <a:off x="2928836" y="3707831"/>
            <a:ext cx="12430328" cy="2576062"/>
          </a:xfrm>
          <a:prstGeom prst="rect">
            <a:avLst/>
          </a:prstGeom>
        </p:spPr>
        <p:txBody>
          <a:bodyPr anchor="t" rtlCol="false" tIns="0" lIns="0" bIns="0" rIns="0">
            <a:spAutoFit/>
          </a:bodyPr>
          <a:lstStyle/>
          <a:p>
            <a:pPr algn="l">
              <a:lnSpc>
                <a:spcPts val="19510"/>
              </a:lnSpc>
            </a:pPr>
            <a:r>
              <a:rPr lang="en-US" sz="15007" b="true">
                <a:solidFill>
                  <a:srgbClr val="FFFFFF"/>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DAHByoLJ0Yo</dc:identifier>
  <dcterms:modified xsi:type="dcterms:W3CDTF">2011-08-01T06:04:30Z</dcterms:modified>
  <cp:revision>1</cp:revision>
  <dc:title>Data Science Project</dc:title>
</cp:coreProperties>
</file>